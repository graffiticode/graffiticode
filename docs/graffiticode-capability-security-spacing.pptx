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36b8e852b5646fa" /><Relationship Type="http://schemas.openxmlformats.org/officeDocument/2006/relationships/extended-properties" Target="/docProps/app.xml" Id="R7a360a1904d14d2d" /><Relationship Type="http://schemas.openxmlformats.org/officeDocument/2006/relationships/officeDocument" Target="/ppt/presentation.xml" Id="R1f7b0d1aa0004ed8" /></Relationships>
</file>

<file path=ppt/presentation.xml><?xml version="1.0" encoding="utf-8"?>
<p:presentation xmlns:p="http://schemas.openxmlformats.org/presentationml/2006/main">
  <p:sldMasterIdLst>
    <p:sldMasterId xmlns:r="http://schemas.openxmlformats.org/officeDocument/2006/relationships" id="2147483648" r:id="R87db22372e1e4375"/>
  </p:sldMasterIdLst>
  <p:notesMasterIdLst>
    <p:notesMasterId xmlns:r="http://schemas.openxmlformats.org/officeDocument/2006/relationships" r:id="R3b2ec23af7c443d2"/>
  </p:notesMasterIdLst>
  <p:sldIdLst>
    <p:sldId xmlns:r="http://schemas.openxmlformats.org/officeDocument/2006/relationships" id="256" r:id="Rc8bcc9a05fbc44af"/>
    <p:sldId xmlns:r="http://schemas.openxmlformats.org/officeDocument/2006/relationships" id="257" r:id="R05b09a2cc6124edf"/>
    <p:sldId xmlns:r="http://schemas.openxmlformats.org/officeDocument/2006/relationships" id="258" r:id="Rac5a212c97904963"/>
    <p:sldId xmlns:r="http://schemas.openxmlformats.org/officeDocument/2006/relationships" id="259" r:id="Rde1d8d595161440d"/>
    <p:sldId xmlns:r="http://schemas.openxmlformats.org/officeDocument/2006/relationships" id="260" r:id="Rb05428c2fe69463d"/>
    <p:sldId xmlns:r="http://schemas.openxmlformats.org/officeDocument/2006/relationships" id="261" r:id="Rcd031cf9921648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9547fb27d0c4c2d" /><Relationship Type="http://schemas.openxmlformats.org/officeDocument/2006/relationships/slideMaster" Target="/ppt/slideMasters/slideMaster1.xml" Id="R87db22372e1e4375" /><Relationship Type="http://schemas.openxmlformats.org/officeDocument/2006/relationships/notesMaster" Target="/ppt/notesMasters/notesMaster1.xml" Id="R3b2ec23af7c443d2" /><Relationship Type="http://schemas.openxmlformats.org/officeDocument/2006/relationships/presProps" Target="/ppt/presProps.xml" Id="Redce9779cbc24ab4" /><Relationship Type="http://schemas.openxmlformats.org/officeDocument/2006/relationships/tableStyles" Target="/ppt/tableStyles.xml" Id="Rff6323c0f87d468d" /><Relationship Type="http://schemas.openxmlformats.org/officeDocument/2006/relationships/slide" Target="/ppt/slides/slide1.xml" Id="Rc8bcc9a05fbc44af" /><Relationship Type="http://schemas.openxmlformats.org/officeDocument/2006/relationships/slide" Target="/ppt/slides/slide2.xml" Id="R05b09a2cc6124edf" /><Relationship Type="http://schemas.openxmlformats.org/officeDocument/2006/relationships/slide" Target="/ppt/slides/slide3.xml" Id="Rac5a212c97904963" /><Relationship Type="http://schemas.openxmlformats.org/officeDocument/2006/relationships/slide" Target="/ppt/slides/slide4.xml" Id="Rde1d8d595161440d" /><Relationship Type="http://schemas.openxmlformats.org/officeDocument/2006/relationships/slide" Target="/ppt/slides/slide5.xml" Id="Rb05428c2fe69463d" /><Relationship Type="http://schemas.openxmlformats.org/officeDocument/2006/relationships/slide" Target="/ppt/slides/slide6.xml" Id="Rcd031cf9921648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3ccf325cb844c2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4b1bc8b60834f9a" /><Relationship Type="http://schemas.openxmlformats.org/officeDocument/2006/relationships/notesMaster" Target="/ppt/notesMasters/notesMaster1.xml" Id="Rfefe93cf811c43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0b1175e2494300" /><Relationship Type="http://schemas.openxmlformats.org/officeDocument/2006/relationships/notesMaster" Target="/ppt/notesMasters/notesMaster1.xml" Id="R1e34ad2cfc104b3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bf056f4e75747a5" /><Relationship Type="http://schemas.openxmlformats.org/officeDocument/2006/relationships/notesMaster" Target="/ppt/notesMasters/notesMaster1.xml" Id="Rec48492996414041" /></Relationships>
</file>

<file path=ppt/notesSlides/_rels/notesSlide4.xml.rels>&#65279;<?xml version="1.0" encoding="utf-8"?><Relationships xmlns="http://schemas.openxmlformats.org/package/2006/relationships"><Relationship Type="http://schemas.openxmlformats.org/officeDocument/2006/relationships/slide" Target="/ppt/slides/slide4.xml" Id="R01fa269109da486d" /><Relationship Type="http://schemas.openxmlformats.org/officeDocument/2006/relationships/notesMaster" Target="/ppt/notesMasters/notesMaster1.xml" Id="Rba5440e0a6354ae3" /></Relationships>
</file>

<file path=ppt/notesSlides/_rels/notesSlide5.xml.rels>&#65279;<?xml version="1.0" encoding="utf-8"?><Relationships xmlns="http://schemas.openxmlformats.org/package/2006/relationships"><Relationship Type="http://schemas.openxmlformats.org/officeDocument/2006/relationships/slide" Target="/ppt/slides/slide5.xml" Id="R088d6e01554f4c4a" /><Relationship Type="http://schemas.openxmlformats.org/officeDocument/2006/relationships/notesMaster" Target="/ppt/notesMasters/notesMaster1.xml" Id="Rbb1d7bab1e0e4cc8" /></Relationships>
</file>

<file path=ppt/notesSlides/_rels/notesSlide6.xml.rels>&#65279;<?xml version="1.0" encoding="utf-8"?><Relationships xmlns="http://schemas.openxmlformats.org/package/2006/relationships"><Relationship Type="http://schemas.openxmlformats.org/officeDocument/2006/relationships/slide" Target="/ppt/slides/slide6.xml" Id="Rf02db546a2b7439d" /><Relationship Type="http://schemas.openxmlformats.org/officeDocument/2006/relationships/notesMaster" Target="/ppt/notesMasters/notesMaster1.xml" Id="R5c7d97d003fb433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Scope: delegated external API permissions. “Standard” means the classic object-capability model, not identity/role-based IAM. The design explicitly calls itself owner-managed delegated authorization with scoped execution tokens. Sources: /Users/jeffdyer/work/graffiticode/console/docs/graffiticode_capability_policy_spec.md, Goal and terminology; /Users/jeffdyer/work/graffiticode/graffiticode/packages/policy/src/policy.js; /Users/jeffdyer/work/graffiticode/graffiticode/packages/broker/src/broker.js. Prepared 2026-09-30.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Interaction diagram for the authenticated brokered run path. Setup: Console authenticates the user through Auth; Auth supplies the user token. Console manages connections and grants through Policy. When creating or rotating a connection, Policy passes the credential to Broker for sealed storage; Policy does not persist the secret. A grant-only change does not provision a credential. Run: Console sends a compile request and selected connection to API. API requests a signed invocation from Policy, then routes compilation with invocation and user context to Compiler. Compiler requests an admission snapshot from Policy, checks all protected calls, and asks Policy to mint a token at each protected call. The diagram labels token issuance at step 7; the separate admission snapshot request is omitted for readability. Step 9 shows Broker making the external service call using the stored credential. Policy rechecks live access on mint. Compiler sends the token and bound payload to Broker. Broker verifies caller, registry, operation, digest and single-use token, then calls the external provider with the stored credential and returns the result. The arrows show requests only; responses are omitted to keep the diagram readable. User tokens propagate in trusted request context; Auth is not a mandatory live network hop for every policy decision. Service identity is separately verified using Google ID tokens. Sources: /Users/jeffdyer/work/graffiticode/console/docs/graffiticode_capability_policy_spec.md, Protected compile and call and Credentials; /Users/jeffdyer/work/graffiticode/console/docs/capability-policy-as-built.md, How it works and Trust boundaries; /Users/jeffdyer/work/graffiticode/graffiticode/packages/api/src/data.js; /Users/jeffdyer/work/graffiticode/graffiticode/packages/policy/src/app.js; /Users/jeffdyer/work/graffiticode/graffiticode/packages/policy/src/main.js; /Users/jeffdyer/work/graffiticode/graffiticode/packages/broker/src/broker.js.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/Users/jeffdyer/work/graffiticode/console/docs/graffiticode_capability_policy_spec.md, Protected compile and call; /Users/jeffdyer/work/graffiticode/graffiticode/packages/policy/src/policy.js snapshot/mint/issueExecution; /Users/jeffdyer/work/graffiticode/graffiticode/packages/broker/src/broker.js execute; /Users/jeffdyer/work/graffiticode/graffiticode/packages/common/src/protected-registry.js. Tokens bind recipient, immutable connection owner, connection, backend, language, function, operation, registry version, operation ID and args digest. Broker also verifies the caller is a compiler for that language. The broker boundary protects broker-held connection credentials; legacy paths remain a separate migration concern.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/Users/jeffdyer/work/graffiticode/console/docs/graffiticode_capability_policy_spec.md, Why this design and Decided/Revocation; /Users/jeffdyer/work/graffiticode/graffiticode/packages/policy/src/policy.js mint; /Users/jeffdyer/work/graffiticode/graffiticode/packages/broker/src/broker.js execute; /Users/jeffdyer/work/graffiticode/graffiticode/packages/policy/src/tokens.js. Admission is an early-error and partial-side-effect prevention measure against the snapshot, not an atomic transaction or the decisive boundary. Every mint rechecks live policy. An execution token already issued remains usable until expiry (at most 60 seconds), subject to broker checks, single-use enforcement and credential availability. Central policy creates an availability dependency and an additional round trip for each protected call. Classic capabilities can revoke via interposition; see https://www.erights.org/elib/capability/duals/myths.html.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Brokered connection model: the owner manages grants through Policy. Policy authorizes specific compiler calls and issues scoped tokens. The compiler forwards tokens and payloads to Broker. Broker verifies the token and uses the stored credential internally to call external providers. Connection credentials are persisted only in the Broker-owned store, encrypted with a Broker-only key. The external secret-management API allows POST (create), PUT (rotate) and DELETE. It exposes no GET/read-back endpoint and never echoes credential values. Only the Policy service may provision or delete credentials. Console and Policy handle the credential transiently during provisioning, without retaining it. No read-back describes the external API, not the Broker’s necessary internal retrieval of a secret to use it. This is the brokered connection model, not a claim that all legacy credential paths have migrated. The diagram’s Policy-to-Broker arrow represents token authority relayed through Compiler. Sources: /Users/jeffdyer/work/graffiticode/graffiticode/packages/broker/src/app.js (provisioning routes and role check); /Users/jeffdyer/work/graffiticode/graffiticode/packages/broker/src/broker.js (credential retrieval and operation.run); /Users/jeffdyer/work/graffiticode/console/docs/graffiticode_capability_policy_spec.md (Credentials); /Users/jeffdyer/work/graffiticode/graffiticode/packages/policy/src/policy.js.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Summary of the brokered connection path. The connection owner grants a recipient account access to specific language/function pairs. The recipient selects a connection; the gateway supplies verified invocation context. The compiler performs admission, requests a scoped execution token from policy, and forwards that token with the payload to the broker. The policy-to-broker arrow is a logical authorization flow through the compiler, not a direct network request. Policy checks live grants at each mint; the broker checks signature, caller language, registry, named operation, payload digest, credential binding and single-use status. The broker retains the connection credential and calls the external provider. Execution tokens last at most 60 seconds. This summarizes the brokered model, not a claim that every legacy credential path has migrated. Sources: /Users/jeffdyer/work/graffiticode/console/docs/graffiticode_capability_policy_spec.md, Goal and terminology and Protected compile and call; /Users/jeffdyer/work/graffiticode/graffiticode/packages/policy/src/policy.js; /Users/jeffdyer/work/graffiticode/graffiticode/packages/broker/src/broker.js; /Users/jeffdyer/work/graffiticode/graffiticode/packages/common/src/protected-registry.js.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860e9f6fda04e5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15740ef2ec3460d" /><Relationship Type="http://schemas.openxmlformats.org/officeDocument/2006/relationships/slideLayout" Target="/ppt/slideLayouts/slideLayout1.xml" Id="Re1cf3b588c044f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cf3b588c044f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e8935f2ef894284" /><Relationship Type="http://schemas.openxmlformats.org/officeDocument/2006/relationships/notesSlide" Target="/ppt/notesSlides/notesSlide1.xml" Id="R1b6a716dead344f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1233ba1b00944b3" /><Relationship Type="http://schemas.openxmlformats.org/officeDocument/2006/relationships/notesSlide" Target="/ppt/notesSlides/notesSlide2.xml" Id="Rf709b2ffd4d546d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942639f9e3741d7" /><Relationship Type="http://schemas.openxmlformats.org/officeDocument/2006/relationships/notesSlide" Target="/ppt/notesSlides/notesSlide3.xml" Id="Rffacb2af4052430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d8f3cf45f6f4ae9" /><Relationship Type="http://schemas.openxmlformats.org/officeDocument/2006/relationships/notesSlide" Target="/ppt/notesSlides/notesSlide4.xml" Id="Rc80e4a1b035043f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228db160c8249b3" /><Relationship Type="http://schemas.openxmlformats.org/officeDocument/2006/relationships/notesSlide" Target="/ppt/notesSlides/notesSlide5.xml" Id="Rbcfbec7e8c3e40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792f6e618d34f8a" /><Relationship Type="http://schemas.openxmlformats.org/officeDocument/2006/relationships/notesSlide" Target="/ppt/notesSlides/notesSlide6.xml" Id="Rb33378346a634dd5" /></Relationships>
</file>

<file path=ppt/slides/slide1.xml><?xml version="1.0" encoding="utf-8"?>
<p:sld xmlns:p="http://schemas.openxmlformats.org/presentationml/2006/main">
  <p:cSld>
    <p:bg>
      <p:bgPr>
        <a:solidFill xmlns:a="http://schemas.openxmlformats.org/drawingml/2006/main">
          <a:srgbClr val="17302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536F2BE-ACB9-4F6D-8E0A-0B784F030AC0}"/>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Graffiticode’s capability</a:t>
            </a:r>
          </a:p>
          <a:p xmlns:a="http://schemas.openxmlformats.org/drawingml/2006/main">
            <a:pPr>
              <a:buNone/>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security model</a:t>
            </a:r>
          </a:p>
        </p:txBody>
      </p:sp>
      <p:sp>
        <p:nvSpPr>
          <p:cNvPr id="2" name="">
            <a:extLst xmlns:a="http://schemas.openxmlformats.org/drawingml/2006/main">
              <a:ext uri="{FF2B5EF4-FFF2-40B4-BE49-F238E27FC236}">
                <a16:creationId xmlns:a16="http://schemas.microsoft.com/office/drawing/2014/main" id="{709C4078-06DE-4DA1-A27A-3C07991682ED}"/>
              </a:ext>
            </a:extLst>
          </p:cNvPr>
          <p:cNvSpPr>
            <a:spLocks xmlns:a="http://schemas.openxmlformats.org/drawingml/2006/main" noGrp="1"/>
          </p:cNvSpPr>
          <p:nvPr/>
        </p:nvSpPr>
        <p:spPr>
          <a:xfrm xmlns:a="http://schemas.openxmlformats.org/drawingml/2006/main">
            <a:off x="609600" y="2428875"/>
            <a:ext cx="10382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A7E1C7"/>
                </a:solidFill>
                <a:latin typeface="Helvetica Neue"/>
                <a:ea typeface="Helvetica Neue"/>
                <a:cs typeface="Helvetica Neue"/>
              </a:defRPr>
            </a:pPr>
            <a:r>
              <a:rPr sz="3600" b="1">
                <a:solidFill>
                  <a:srgbClr val="A7E1C7"/>
                </a:solidFill>
                <a:latin typeface="Helvetica Neue"/>
                <a:ea typeface="Helvetica Neue"/>
                <a:cs typeface="Helvetica Neue"/>
              </a:rPr>
              <a:t>Owner-managed grants.</a:t>
            </a:r>
          </a:p>
          <a:p xmlns:a="http://schemas.openxmlformats.org/drawingml/2006/main">
            <a:pPr>
              <a:buNone/>
              <a:defRPr sz="3600" b="1">
                <a:solidFill>
                  <a:srgbClr val="A7E1C7"/>
                </a:solidFill>
                <a:latin typeface="Helvetica Neue"/>
                <a:ea typeface="Helvetica Neue"/>
                <a:cs typeface="Helvetica Neue"/>
              </a:defRPr>
            </a:pPr>
            <a:r>
              <a:rPr sz="3600" b="1">
                <a:solidFill>
                  <a:srgbClr val="A7E1C7"/>
                </a:solidFill>
                <a:latin typeface="Helvetica Neue"/>
                <a:ea typeface="Helvetica Neue"/>
                <a:cs typeface="Helvetica Neue"/>
              </a:rPr>
              <a:t>Proof for each protected call.</a:t>
            </a:r>
          </a:p>
        </p:txBody>
      </p:sp>
      <p:sp>
        <p:nvSpPr>
          <p:cNvPr id="3" name="">
            <a:extLst xmlns:a="http://schemas.openxmlformats.org/drawingml/2006/main">
              <a:ext uri="{FF2B5EF4-FFF2-40B4-BE49-F238E27FC236}">
                <a16:creationId xmlns:a16="http://schemas.microsoft.com/office/drawing/2014/main" id="{EEB606F3-B174-474B-9540-974939DF3F10}"/>
              </a:ext>
            </a:extLst>
          </p:cNvPr>
          <p:cNvSpPr>
            <a:spLocks xmlns:a="http://schemas.openxmlformats.org/drawingml/2006/main" noGrp="1"/>
          </p:cNvSpPr>
          <p:nvPr/>
        </p:nvSpPr>
        <p:spPr>
          <a:xfrm xmlns:a="http://schemas.openxmlformats.org/drawingml/2006/main">
            <a:off x="609600" y="4552950"/>
            <a:ext cx="990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A hybrid of identity-based policy and capability-style execution</a:t>
            </a:r>
          </a:p>
        </p:txBody>
      </p:sp>
      <p:sp>
        <p:nvSpPr>
          <p:cNvPr id="4" name="">
            <a:extLst xmlns:a="http://schemas.openxmlformats.org/drawingml/2006/main">
              <a:ext uri="{FF2B5EF4-FFF2-40B4-BE49-F238E27FC236}">
                <a16:creationId xmlns:a16="http://schemas.microsoft.com/office/drawing/2014/main" id="{78686B9A-68D7-4D1F-A3A5-7717175FBA75}"/>
              </a:ext>
            </a:extLst>
          </p:cNvPr>
          <p:cNvSpPr>
            <a:spLocks xmlns:a="http://schemas.openxmlformats.org/drawingml/2006/main" noGrp="1"/>
          </p:cNvSpPr>
          <p:nvPr/>
        </p:nvSpPr>
        <p:spPr>
          <a:xfrm xmlns:a="http://schemas.openxmlformats.org/drawingml/2006/main">
            <a:off x="609600" y="5810250"/>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B8CCC3"/>
                </a:solidFill>
                <a:latin typeface="Helvetica Neue"/>
                <a:ea typeface="Helvetica Neue"/>
                <a:cs typeface="Helvetica Neue"/>
              </a:defRPr>
            </a:pPr>
            <a:r>
              <a:rPr sz="1575" b="0">
                <a:solidFill>
                  <a:srgbClr val="B8CCC3"/>
                </a:solidFill>
                <a:latin typeface="Helvetica Neue"/>
                <a:ea typeface="Helvetica Neue"/>
                <a:cs typeface="Helvetica Neue"/>
              </a:rPr>
              <a:t>Comparison with the classic object-capability model</a:t>
            </a:r>
          </a:p>
        </p:txBody>
      </p:sp>
    </p:spTree>
    <p:extLst>
      <p:ext uri="{BB962C8B-B14F-4D97-AF65-F5344CB8AC3E}">
        <p14:creationId xmlns:p14="http://schemas.microsoft.com/office/powerpoint/2010/main" val="683039689"/>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61" name="">
            <a:extLst xmlns:a="http://schemas.openxmlformats.org/drawingml/2006/main">
              <a:ext uri="{FF2B5EF4-FFF2-40B4-BE49-F238E27FC236}">
                <a16:creationId xmlns:a16="http://schemas.microsoft.com/office/drawing/2014/main" id="{168364CC-691E-48FD-B170-9A0B434AD4E8}"/>
              </a:ext>
            </a:extLst>
          </p:cNvPr>
          <p:cNvSpPr>
            <a:spLocks xmlns:a="http://schemas.openxmlformats.org/drawingml/2006/main" noGrp="1"/>
          </p:cNvSpPr>
          <p:nvPr/>
        </p:nvSpPr>
        <p:spPr>
          <a:xfrm xmlns:a="http://schemas.openxmlformats.org/drawingml/2006/main">
            <a:off x="609600" y="400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302B"/>
                </a:solidFill>
                <a:latin typeface="Helvetica Neue"/>
                <a:ea typeface="Helvetica Neue"/>
                <a:cs typeface="Helvetica Neue"/>
              </a:defRPr>
            </a:pPr>
            <a:r>
              <a:rPr sz="3300" b="1">
                <a:solidFill>
                  <a:srgbClr val="17302B"/>
                </a:solidFill>
                <a:latin typeface="Helvetica Neue"/>
                <a:ea typeface="Helvetica Neue"/>
                <a:cs typeface="Helvetica Neue"/>
              </a:rPr>
              <a:t>Services in a protected run</a:t>
            </a:r>
          </a:p>
        </p:txBody>
      </p:sp>
      <p:sp>
        <p:nvSpPr>
          <p:cNvPr id="2" name="">
            <a:extLst xmlns:a="http://schemas.openxmlformats.org/drawingml/2006/main">
              <a:ext uri="{FF2B5EF4-FFF2-40B4-BE49-F238E27FC236}">
                <a16:creationId xmlns:a16="http://schemas.microsoft.com/office/drawing/2014/main" id="{2102AB98-167F-41DB-84A4-6FFA9CBE2F6D}"/>
              </a:ext>
            </a:extLst>
          </p:cNvPr>
          <p:cNvSpPr>
            <a:spLocks xmlns:a="http://schemas.openxmlformats.org/drawingml/2006/main" noGrp="1"/>
          </p:cNvSpPr>
          <p:nvPr/>
        </p:nvSpPr>
        <p:spPr>
          <a:xfrm xmlns:a="http://schemas.openxmlformats.org/drawingml/2006/main">
            <a:off x="609600" y="11144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53645D"/>
                </a:solidFill>
                <a:latin typeface="Helvetica Neue"/>
                <a:ea typeface="Helvetica Neue"/>
                <a:cs typeface="Helvetica Neue"/>
              </a:defRPr>
            </a:pPr>
            <a:r>
              <a:rPr sz="2025" b="0">
                <a:solidFill>
                  <a:srgbClr val="53645D"/>
                </a:solidFill>
                <a:latin typeface="Helvetica Neue"/>
                <a:ea typeface="Helvetica Neue"/>
                <a:cs typeface="Helvetica Neue"/>
              </a:rPr>
              <a:t>Auth establishes identity. API routes the run. Policy and Broker enforce authority.</a:t>
            </a:r>
          </a:p>
        </p:txBody>
      </p:sp>
      <p:sp>
        <p:nvSpPr>
          <p:cNvPr id="3" name="">
            <a:extLst xmlns:a="http://schemas.openxmlformats.org/drawingml/2006/main">
              <a:ext uri="{FF2B5EF4-FFF2-40B4-BE49-F238E27FC236}">
                <a16:creationId xmlns:a16="http://schemas.microsoft.com/office/drawing/2014/main" id="{CF30AB86-424E-486B-B114-767D985019D6}"/>
              </a:ext>
            </a:extLst>
          </p:cNvPr>
          <p:cNvSpPr>
            <a:spLocks xmlns:a="http://schemas.openxmlformats.org/drawingml/2006/main" noGrp="1"/>
          </p:cNvSpPr>
          <p:nvPr/>
        </p:nvSpPr>
        <p:spPr>
          <a:xfrm xmlns:a="http://schemas.openxmlformats.org/drawingml/2006/main">
            <a:off x="438150" y="1733550"/>
            <a:ext cx="1409700" cy="457200"/>
          </a:xfrm>
          <a:prstGeom xmlns:a="http://schemas.openxmlformats.org/drawingml/2006/main" prst="rect">
            <a:avLst/>
          </a:prstGeom>
          <a:solidFill xmlns:a="http://schemas.openxmlformats.org/drawingml/2006/main">
            <a:srgbClr val="17302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4546B81-010F-4957-8DEE-02D0811A3906}"/>
              </a:ext>
            </a:extLst>
          </p:cNvPr>
          <p:cNvSpPr>
            <a:spLocks xmlns:a="http://schemas.openxmlformats.org/drawingml/2006/main" noGrp="1"/>
          </p:cNvSpPr>
          <p:nvPr/>
        </p:nvSpPr>
        <p:spPr>
          <a:xfrm xmlns:a="http://schemas.openxmlformats.org/drawingml/2006/main">
            <a:off x="523875" y="176212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Console</a:t>
            </a:r>
          </a:p>
        </p:txBody>
      </p:sp>
      <p:sp>
        <p:nvSpPr>
          <p:cNvPr id="5" name="">
            <a:extLst xmlns:a="http://schemas.openxmlformats.org/drawingml/2006/main">
              <a:ext uri="{FF2B5EF4-FFF2-40B4-BE49-F238E27FC236}">
                <a16:creationId xmlns:a16="http://schemas.microsoft.com/office/drawing/2014/main" id="{FF3EC029-B917-4D9B-AD0A-F9C77317004D}"/>
              </a:ext>
            </a:extLst>
          </p:cNvPr>
          <p:cNvSpPr>
            <a:spLocks xmlns:a="http://schemas.openxmlformats.org/drawingml/2006/main" noGrp="1"/>
          </p:cNvSpPr>
          <p:nvPr/>
        </p:nvSpPr>
        <p:spPr>
          <a:xfrm xmlns:a="http://schemas.openxmlformats.org/drawingml/2006/main">
            <a:off x="1143000" y="2228850"/>
            <a:ext cx="0" cy="4029075"/>
          </a:xfrm>
          <a:prstGeom xmlns:a="http://schemas.openxmlformats.org/drawingml/2006/main" prst="line">
            <a:avLst/>
          </a:prstGeom>
          <a:noFill xmlns:a="http://schemas.openxmlformats.org/drawingml/2006/main"/>
          <a:ln xmlns:a="http://schemas.openxmlformats.org/drawingml/2006/main" w="9525">
            <a:solidFill>
              <a:srgbClr val="B7C9C0"/>
            </a:solidFill>
            <a:prstDash val="dash"/>
          </a:ln>
        </p:spPr>
      </p:sp>
      <p:sp>
        <p:nvSpPr>
          <p:cNvPr id="6" name="">
            <a:extLst xmlns:a="http://schemas.openxmlformats.org/drawingml/2006/main">
              <a:ext uri="{FF2B5EF4-FFF2-40B4-BE49-F238E27FC236}">
                <a16:creationId xmlns:a16="http://schemas.microsoft.com/office/drawing/2014/main" id="{8C0086D9-4B95-4B5A-B5C7-2A7BB1D4B64C}"/>
              </a:ext>
            </a:extLst>
          </p:cNvPr>
          <p:cNvSpPr>
            <a:spLocks xmlns:a="http://schemas.openxmlformats.org/drawingml/2006/main" noGrp="1"/>
          </p:cNvSpPr>
          <p:nvPr/>
        </p:nvSpPr>
        <p:spPr>
          <a:xfrm xmlns:a="http://schemas.openxmlformats.org/drawingml/2006/main">
            <a:off x="2038350" y="1733550"/>
            <a:ext cx="1409700" cy="457200"/>
          </a:xfrm>
          <a:prstGeom xmlns:a="http://schemas.openxmlformats.org/drawingml/2006/main" prst="rect">
            <a:avLst/>
          </a:prstGeom>
          <a:solidFill xmlns:a="http://schemas.openxmlformats.org/drawingml/2006/main">
            <a:srgbClr val="17302B"/>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91CEE1B-5386-4398-A123-992267F76BE6}"/>
              </a:ext>
            </a:extLst>
          </p:cNvPr>
          <p:cNvSpPr>
            <a:spLocks xmlns:a="http://schemas.openxmlformats.org/drawingml/2006/main" noGrp="1"/>
          </p:cNvSpPr>
          <p:nvPr/>
        </p:nvSpPr>
        <p:spPr>
          <a:xfrm xmlns:a="http://schemas.openxmlformats.org/drawingml/2006/main">
            <a:off x="2124075" y="176212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Auth</a:t>
            </a:r>
          </a:p>
        </p:txBody>
      </p:sp>
      <p:sp>
        <p:nvSpPr>
          <p:cNvPr id="8" name="">
            <a:extLst xmlns:a="http://schemas.openxmlformats.org/drawingml/2006/main">
              <a:ext uri="{FF2B5EF4-FFF2-40B4-BE49-F238E27FC236}">
                <a16:creationId xmlns:a16="http://schemas.microsoft.com/office/drawing/2014/main" id="{AFB0836F-FA78-43E3-A70F-58367C605F2B}"/>
              </a:ext>
            </a:extLst>
          </p:cNvPr>
          <p:cNvSpPr>
            <a:spLocks xmlns:a="http://schemas.openxmlformats.org/drawingml/2006/main" noGrp="1"/>
          </p:cNvSpPr>
          <p:nvPr/>
        </p:nvSpPr>
        <p:spPr>
          <a:xfrm xmlns:a="http://schemas.openxmlformats.org/drawingml/2006/main">
            <a:off x="2743200" y="2228850"/>
            <a:ext cx="0" cy="4029075"/>
          </a:xfrm>
          <a:prstGeom xmlns:a="http://schemas.openxmlformats.org/drawingml/2006/main" prst="line">
            <a:avLst/>
          </a:prstGeom>
          <a:noFill xmlns:a="http://schemas.openxmlformats.org/drawingml/2006/main"/>
          <a:ln xmlns:a="http://schemas.openxmlformats.org/drawingml/2006/main" w="9525">
            <a:solidFill>
              <a:srgbClr val="B7C9C0"/>
            </a:solidFill>
            <a:prstDash val="dash"/>
          </a:ln>
        </p:spPr>
      </p:sp>
      <p:sp>
        <p:nvSpPr>
          <p:cNvPr id="9" name="">
            <a:extLst xmlns:a="http://schemas.openxmlformats.org/drawingml/2006/main">
              <a:ext uri="{FF2B5EF4-FFF2-40B4-BE49-F238E27FC236}">
                <a16:creationId xmlns:a16="http://schemas.microsoft.com/office/drawing/2014/main" id="{61F83E31-5AE6-4766-BA5B-A86B5009D23D}"/>
              </a:ext>
            </a:extLst>
          </p:cNvPr>
          <p:cNvSpPr>
            <a:spLocks xmlns:a="http://schemas.openxmlformats.org/drawingml/2006/main" noGrp="1"/>
          </p:cNvSpPr>
          <p:nvPr/>
        </p:nvSpPr>
        <p:spPr>
          <a:xfrm xmlns:a="http://schemas.openxmlformats.org/drawingml/2006/main">
            <a:off x="3638550" y="1733550"/>
            <a:ext cx="1409700" cy="457200"/>
          </a:xfrm>
          <a:prstGeom xmlns:a="http://schemas.openxmlformats.org/drawingml/2006/main" prst="rect">
            <a:avLst/>
          </a:prstGeom>
          <a:solidFill xmlns:a="http://schemas.openxmlformats.org/drawingml/2006/main">
            <a:srgbClr val="17302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A1EBD49-C960-4E3E-85EE-65B78DD82397}"/>
              </a:ext>
            </a:extLst>
          </p:cNvPr>
          <p:cNvSpPr>
            <a:spLocks xmlns:a="http://schemas.openxmlformats.org/drawingml/2006/main" noGrp="1"/>
          </p:cNvSpPr>
          <p:nvPr/>
        </p:nvSpPr>
        <p:spPr>
          <a:xfrm xmlns:a="http://schemas.openxmlformats.org/drawingml/2006/main">
            <a:off x="3724275" y="176212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API</a:t>
            </a:r>
          </a:p>
        </p:txBody>
      </p:sp>
      <p:sp>
        <p:nvSpPr>
          <p:cNvPr id="11" name="">
            <a:extLst xmlns:a="http://schemas.openxmlformats.org/drawingml/2006/main">
              <a:ext uri="{FF2B5EF4-FFF2-40B4-BE49-F238E27FC236}">
                <a16:creationId xmlns:a16="http://schemas.microsoft.com/office/drawing/2014/main" id="{D5A98EC1-9307-4021-A1BE-57773027CF23}"/>
              </a:ext>
            </a:extLst>
          </p:cNvPr>
          <p:cNvSpPr>
            <a:spLocks xmlns:a="http://schemas.openxmlformats.org/drawingml/2006/main" noGrp="1"/>
          </p:cNvSpPr>
          <p:nvPr/>
        </p:nvSpPr>
        <p:spPr>
          <a:xfrm xmlns:a="http://schemas.openxmlformats.org/drawingml/2006/main">
            <a:off x="4343400" y="2228850"/>
            <a:ext cx="0" cy="4029075"/>
          </a:xfrm>
          <a:prstGeom xmlns:a="http://schemas.openxmlformats.org/drawingml/2006/main" prst="line">
            <a:avLst/>
          </a:prstGeom>
          <a:noFill xmlns:a="http://schemas.openxmlformats.org/drawingml/2006/main"/>
          <a:ln xmlns:a="http://schemas.openxmlformats.org/drawingml/2006/main" w="9525">
            <a:solidFill>
              <a:srgbClr val="B7C9C0"/>
            </a:solidFill>
            <a:prstDash val="dash"/>
          </a:ln>
        </p:spPr>
      </p:sp>
      <p:sp>
        <p:nvSpPr>
          <p:cNvPr id="12" name="">
            <a:extLst xmlns:a="http://schemas.openxmlformats.org/drawingml/2006/main">
              <a:ext uri="{FF2B5EF4-FFF2-40B4-BE49-F238E27FC236}">
                <a16:creationId xmlns:a16="http://schemas.microsoft.com/office/drawing/2014/main" id="{A6EB3065-180A-436B-9181-D2370EAD8DEA}"/>
              </a:ext>
            </a:extLst>
          </p:cNvPr>
          <p:cNvSpPr>
            <a:spLocks xmlns:a="http://schemas.openxmlformats.org/drawingml/2006/main" noGrp="1"/>
          </p:cNvSpPr>
          <p:nvPr/>
        </p:nvSpPr>
        <p:spPr>
          <a:xfrm xmlns:a="http://schemas.openxmlformats.org/drawingml/2006/main">
            <a:off x="5238750" y="1733550"/>
            <a:ext cx="1409700" cy="457200"/>
          </a:xfrm>
          <a:prstGeom xmlns:a="http://schemas.openxmlformats.org/drawingml/2006/main" prst="rect">
            <a:avLst/>
          </a:prstGeom>
          <a:solidFill xmlns:a="http://schemas.openxmlformats.org/drawingml/2006/main">
            <a:srgbClr val="17302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C931D3D-71FB-459B-B4AE-8C9BBCF004E9}"/>
              </a:ext>
            </a:extLst>
          </p:cNvPr>
          <p:cNvSpPr>
            <a:spLocks xmlns:a="http://schemas.openxmlformats.org/drawingml/2006/main" noGrp="1"/>
          </p:cNvSpPr>
          <p:nvPr/>
        </p:nvSpPr>
        <p:spPr>
          <a:xfrm xmlns:a="http://schemas.openxmlformats.org/drawingml/2006/main">
            <a:off x="5324475" y="176212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Compiler</a:t>
            </a:r>
          </a:p>
        </p:txBody>
      </p:sp>
      <p:sp>
        <p:nvSpPr>
          <p:cNvPr id="14" name="">
            <a:extLst xmlns:a="http://schemas.openxmlformats.org/drawingml/2006/main">
              <a:ext uri="{FF2B5EF4-FFF2-40B4-BE49-F238E27FC236}">
                <a16:creationId xmlns:a16="http://schemas.microsoft.com/office/drawing/2014/main" id="{451B15D7-17D7-4ACE-AFFB-F87401D63FA0}"/>
              </a:ext>
            </a:extLst>
          </p:cNvPr>
          <p:cNvSpPr>
            <a:spLocks xmlns:a="http://schemas.openxmlformats.org/drawingml/2006/main" noGrp="1"/>
          </p:cNvSpPr>
          <p:nvPr/>
        </p:nvSpPr>
        <p:spPr>
          <a:xfrm xmlns:a="http://schemas.openxmlformats.org/drawingml/2006/main">
            <a:off x="5943600" y="2228850"/>
            <a:ext cx="0" cy="4029075"/>
          </a:xfrm>
          <a:prstGeom xmlns:a="http://schemas.openxmlformats.org/drawingml/2006/main" prst="line">
            <a:avLst/>
          </a:prstGeom>
          <a:noFill xmlns:a="http://schemas.openxmlformats.org/drawingml/2006/main"/>
          <a:ln xmlns:a="http://schemas.openxmlformats.org/drawingml/2006/main" w="9525">
            <a:solidFill>
              <a:srgbClr val="B7C9C0"/>
            </a:solidFill>
            <a:prstDash val="dash"/>
          </a:ln>
        </p:spPr>
      </p:sp>
      <p:sp>
        <p:nvSpPr>
          <p:cNvPr id="15" name="">
            <a:extLst xmlns:a="http://schemas.openxmlformats.org/drawingml/2006/main">
              <a:ext uri="{FF2B5EF4-FFF2-40B4-BE49-F238E27FC236}">
                <a16:creationId xmlns:a16="http://schemas.microsoft.com/office/drawing/2014/main" id="{69C44769-89F5-4BC4-B5A2-8A2172AB3F4E}"/>
              </a:ext>
            </a:extLst>
          </p:cNvPr>
          <p:cNvSpPr>
            <a:spLocks xmlns:a="http://schemas.openxmlformats.org/drawingml/2006/main" noGrp="1"/>
          </p:cNvSpPr>
          <p:nvPr/>
        </p:nvSpPr>
        <p:spPr>
          <a:xfrm xmlns:a="http://schemas.openxmlformats.org/drawingml/2006/main">
            <a:off x="6838950" y="1733550"/>
            <a:ext cx="1409700" cy="457200"/>
          </a:xfrm>
          <a:prstGeom xmlns:a="http://schemas.openxmlformats.org/drawingml/2006/main" prst="rect">
            <a:avLst/>
          </a:prstGeom>
          <a:solidFill xmlns:a="http://schemas.openxmlformats.org/drawingml/2006/main">
            <a:srgbClr val="17302B"/>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79F9BE7-EE7E-4858-B2A1-AAB24AB8ED57}"/>
              </a:ext>
            </a:extLst>
          </p:cNvPr>
          <p:cNvSpPr>
            <a:spLocks xmlns:a="http://schemas.openxmlformats.org/drawingml/2006/main" noGrp="1"/>
          </p:cNvSpPr>
          <p:nvPr/>
        </p:nvSpPr>
        <p:spPr>
          <a:xfrm xmlns:a="http://schemas.openxmlformats.org/drawingml/2006/main">
            <a:off x="6924675" y="176212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Policy</a:t>
            </a:r>
          </a:p>
        </p:txBody>
      </p:sp>
      <p:sp>
        <p:nvSpPr>
          <p:cNvPr id="17" name="">
            <a:extLst xmlns:a="http://schemas.openxmlformats.org/drawingml/2006/main">
              <a:ext uri="{FF2B5EF4-FFF2-40B4-BE49-F238E27FC236}">
                <a16:creationId xmlns:a16="http://schemas.microsoft.com/office/drawing/2014/main" id="{B85956AD-C14C-4278-8643-7DAD7BCF68F8}"/>
              </a:ext>
            </a:extLst>
          </p:cNvPr>
          <p:cNvSpPr>
            <a:spLocks xmlns:a="http://schemas.openxmlformats.org/drawingml/2006/main" noGrp="1"/>
          </p:cNvSpPr>
          <p:nvPr/>
        </p:nvSpPr>
        <p:spPr>
          <a:xfrm xmlns:a="http://schemas.openxmlformats.org/drawingml/2006/main">
            <a:off x="7543800" y="2228850"/>
            <a:ext cx="0" cy="4029075"/>
          </a:xfrm>
          <a:prstGeom xmlns:a="http://schemas.openxmlformats.org/drawingml/2006/main" prst="line">
            <a:avLst/>
          </a:prstGeom>
          <a:noFill xmlns:a="http://schemas.openxmlformats.org/drawingml/2006/main"/>
          <a:ln xmlns:a="http://schemas.openxmlformats.org/drawingml/2006/main" w="9525">
            <a:solidFill>
              <a:srgbClr val="B7C9C0"/>
            </a:solidFill>
            <a:prstDash val="dash"/>
          </a:ln>
        </p:spPr>
      </p:sp>
      <p:sp>
        <p:nvSpPr>
          <p:cNvPr id="18" name="">
            <a:extLst xmlns:a="http://schemas.openxmlformats.org/drawingml/2006/main">
              <a:ext uri="{FF2B5EF4-FFF2-40B4-BE49-F238E27FC236}">
                <a16:creationId xmlns:a16="http://schemas.microsoft.com/office/drawing/2014/main" id="{0B7A6417-9402-4AD0-8BC6-75EFC84EC033}"/>
              </a:ext>
            </a:extLst>
          </p:cNvPr>
          <p:cNvSpPr>
            <a:spLocks xmlns:a="http://schemas.openxmlformats.org/drawingml/2006/main" noGrp="1"/>
          </p:cNvSpPr>
          <p:nvPr/>
        </p:nvSpPr>
        <p:spPr>
          <a:xfrm xmlns:a="http://schemas.openxmlformats.org/drawingml/2006/main">
            <a:off x="8439150" y="1733550"/>
            <a:ext cx="1409700" cy="457200"/>
          </a:xfrm>
          <a:prstGeom xmlns:a="http://schemas.openxmlformats.org/drawingml/2006/main" prst="rect">
            <a:avLst/>
          </a:prstGeom>
          <a:solidFill xmlns:a="http://schemas.openxmlformats.org/drawingml/2006/main">
            <a:srgbClr val="17302B"/>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4F9DC6D-DD19-4208-8761-EC9697FF0DB0}"/>
              </a:ext>
            </a:extLst>
          </p:cNvPr>
          <p:cNvSpPr>
            <a:spLocks xmlns:a="http://schemas.openxmlformats.org/drawingml/2006/main" noGrp="1"/>
          </p:cNvSpPr>
          <p:nvPr/>
        </p:nvSpPr>
        <p:spPr>
          <a:xfrm xmlns:a="http://schemas.openxmlformats.org/drawingml/2006/main">
            <a:off x="8524875" y="176212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Broker</a:t>
            </a:r>
          </a:p>
        </p:txBody>
      </p:sp>
      <p:sp>
        <p:nvSpPr>
          <p:cNvPr id="20" name="">
            <a:extLst xmlns:a="http://schemas.openxmlformats.org/drawingml/2006/main">
              <a:ext uri="{FF2B5EF4-FFF2-40B4-BE49-F238E27FC236}">
                <a16:creationId xmlns:a16="http://schemas.microsoft.com/office/drawing/2014/main" id="{4C882BF9-0C61-4690-B6A8-659AF40E3489}"/>
              </a:ext>
            </a:extLst>
          </p:cNvPr>
          <p:cNvSpPr>
            <a:spLocks xmlns:a="http://schemas.openxmlformats.org/drawingml/2006/main" noGrp="1"/>
          </p:cNvSpPr>
          <p:nvPr/>
        </p:nvSpPr>
        <p:spPr>
          <a:xfrm xmlns:a="http://schemas.openxmlformats.org/drawingml/2006/main">
            <a:off x="9144000" y="2228850"/>
            <a:ext cx="0" cy="4029075"/>
          </a:xfrm>
          <a:prstGeom xmlns:a="http://schemas.openxmlformats.org/drawingml/2006/main" prst="line">
            <a:avLst/>
          </a:prstGeom>
          <a:noFill xmlns:a="http://schemas.openxmlformats.org/drawingml/2006/main"/>
          <a:ln xmlns:a="http://schemas.openxmlformats.org/drawingml/2006/main" w="9525">
            <a:solidFill>
              <a:srgbClr val="B7C9C0"/>
            </a:solidFill>
            <a:prstDash val="dash"/>
          </a:ln>
        </p:spPr>
      </p:sp>
      <p:sp>
        <p:nvSpPr>
          <p:cNvPr id="21" name="">
            <a:extLst xmlns:a="http://schemas.openxmlformats.org/drawingml/2006/main">
              <a:ext uri="{FF2B5EF4-FFF2-40B4-BE49-F238E27FC236}">
                <a16:creationId xmlns:a16="http://schemas.microsoft.com/office/drawing/2014/main" id="{A7B139F6-F519-4AF8-91F5-FAEA4F9D9661}"/>
              </a:ext>
            </a:extLst>
          </p:cNvPr>
          <p:cNvSpPr>
            <a:spLocks xmlns:a="http://schemas.openxmlformats.org/drawingml/2006/main" noGrp="1"/>
          </p:cNvSpPr>
          <p:nvPr/>
        </p:nvSpPr>
        <p:spPr>
          <a:xfrm xmlns:a="http://schemas.openxmlformats.org/drawingml/2006/main">
            <a:off x="10039350" y="1733550"/>
            <a:ext cx="1409700" cy="457200"/>
          </a:xfrm>
          <a:prstGeom xmlns:a="http://schemas.openxmlformats.org/drawingml/2006/main" prst="rect">
            <a:avLst/>
          </a:prstGeom>
          <a:solidFill xmlns:a="http://schemas.openxmlformats.org/drawingml/2006/main">
            <a:srgbClr val="17302B"/>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2FD2278-C218-4AD5-A713-3D31693D6944}"/>
              </a:ext>
            </a:extLst>
          </p:cNvPr>
          <p:cNvSpPr>
            <a:spLocks xmlns:a="http://schemas.openxmlformats.org/drawingml/2006/main" noGrp="1"/>
          </p:cNvSpPr>
          <p:nvPr/>
        </p:nvSpPr>
        <p:spPr>
          <a:xfrm xmlns:a="http://schemas.openxmlformats.org/drawingml/2006/main">
            <a:off x="10125075" y="176212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Service</a:t>
            </a:r>
          </a:p>
        </p:txBody>
      </p:sp>
      <p:sp>
        <p:nvSpPr>
          <p:cNvPr id="23" name="">
            <a:extLst xmlns:a="http://schemas.openxmlformats.org/drawingml/2006/main">
              <a:ext uri="{FF2B5EF4-FFF2-40B4-BE49-F238E27FC236}">
                <a16:creationId xmlns:a16="http://schemas.microsoft.com/office/drawing/2014/main" id="{CD986393-BDAD-4C65-B3B5-06BF95379B63}"/>
              </a:ext>
            </a:extLst>
          </p:cNvPr>
          <p:cNvSpPr>
            <a:spLocks xmlns:a="http://schemas.openxmlformats.org/drawingml/2006/main" noGrp="1"/>
          </p:cNvSpPr>
          <p:nvPr/>
        </p:nvSpPr>
        <p:spPr>
          <a:xfrm xmlns:a="http://schemas.openxmlformats.org/drawingml/2006/main">
            <a:off x="10744200" y="2228850"/>
            <a:ext cx="0" cy="4029075"/>
          </a:xfrm>
          <a:prstGeom xmlns:a="http://schemas.openxmlformats.org/drawingml/2006/main" prst="line">
            <a:avLst/>
          </a:prstGeom>
          <a:noFill xmlns:a="http://schemas.openxmlformats.org/drawingml/2006/main"/>
          <a:ln xmlns:a="http://schemas.openxmlformats.org/drawingml/2006/main" w="9525">
            <a:solidFill>
              <a:srgbClr val="B7C9C0"/>
            </a:solidFill>
            <a:prstDash val="dash"/>
          </a:ln>
        </p:spPr>
      </p:sp>
      <p:sp>
        <p:nvSpPr>
          <p:cNvPr id="24" name="">
            <a:extLst xmlns:a="http://schemas.openxmlformats.org/drawingml/2006/main">
              <a:ext uri="{FF2B5EF4-FFF2-40B4-BE49-F238E27FC236}">
                <a16:creationId xmlns:a16="http://schemas.microsoft.com/office/drawing/2014/main" id="{BA07ECA2-8928-4F90-A3A7-764E050327FE}"/>
              </a:ext>
            </a:extLst>
          </p:cNvPr>
          <p:cNvSpPr>
            <a:spLocks xmlns:a="http://schemas.openxmlformats.org/drawingml/2006/main" noGrp="1"/>
          </p:cNvSpPr>
          <p:nvPr/>
        </p:nvSpPr>
        <p:spPr>
          <a:xfrm xmlns:a="http://schemas.openxmlformats.org/drawingml/2006/main">
            <a:off x="1143000" y="2638425"/>
            <a:ext cx="9525" cy="9525"/>
          </a:xfrm>
          <a:prstGeom xmlns:a="http://schemas.openxmlformats.org/drawingml/2006/main" prst="rect">
            <a:avLst/>
          </a:prstGeom>
          <a:noFill xmlns:a="http://schemas.openxmlformats.org/drawingml/2006/main"/>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5D5F6CB0-6D26-4234-9883-2B3D9513447C}"/>
              </a:ext>
            </a:extLst>
          </p:cNvPr>
          <p:cNvSpPr>
            <a:spLocks xmlns:a="http://schemas.openxmlformats.org/drawingml/2006/main" noGrp="1"/>
          </p:cNvSpPr>
          <p:nvPr/>
        </p:nvSpPr>
        <p:spPr>
          <a:xfrm xmlns:a="http://schemas.openxmlformats.org/drawingml/2006/main">
            <a:off x="2743200" y="2638425"/>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6" name=""/>
          <p:cNvCxnSpPr>
            <a:stCxn xmlns:a="http://schemas.openxmlformats.org/drawingml/2006/main" id="24" idx="3"/>
            <a:endCxn xmlns:a="http://schemas.openxmlformats.org/drawingml/2006/main" id="25" idx="1"/>
          </p:cNvCxnSpPr>
          <p:nvPr/>
        </p:nvCxnSpPr>
        <p:spPr>
          <a:xfrm xmlns:a="http://schemas.openxmlformats.org/drawingml/2006/main">
            <a:off x="1152525" y="2643188"/>
            <a:ext cx="1590675" cy="0"/>
          </a:xfrm>
          <a:prstGeom xmlns:a="http://schemas.openxmlformats.org/drawingml/2006/main" prst="straightConnector1">
            <a:avLst/>
          </a:prstGeom>
          <a:ln xmlns:a="http://schemas.openxmlformats.org/drawingml/2006/main" w="19050">
            <a:solidFill>
              <a:srgbClr val="117C63"/>
            </a:solidFill>
            <a:tailEnd type="triangle" w="med" len="med"/>
          </a:ln>
        </p:spPr>
      </p:cxnSp>
      <p:sp>
        <p:nvSpPr>
          <p:cNvPr id="27" name="">
            <a:extLst xmlns:a="http://schemas.openxmlformats.org/drawingml/2006/main">
              <a:ext uri="{FF2B5EF4-FFF2-40B4-BE49-F238E27FC236}">
                <a16:creationId xmlns:a16="http://schemas.microsoft.com/office/drawing/2014/main" id="{A7D47957-D793-4A29-B26E-BA1956641FE3}"/>
              </a:ext>
            </a:extLst>
          </p:cNvPr>
          <p:cNvSpPr>
            <a:spLocks xmlns:a="http://schemas.openxmlformats.org/drawingml/2006/main" noGrp="1"/>
          </p:cNvSpPr>
          <p:nvPr/>
        </p:nvSpPr>
        <p:spPr>
          <a:xfrm xmlns:a="http://schemas.openxmlformats.org/drawingml/2006/main">
            <a:off x="1219200" y="2324100"/>
            <a:ext cx="144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17302B"/>
                </a:solidFill>
                <a:latin typeface="Helvetica Neue"/>
                <a:ea typeface="Helvetica Neue"/>
                <a:cs typeface="Helvetica Neue"/>
              </a:defRPr>
            </a:pPr>
            <a:r>
              <a:rPr sz="1575" b="0">
                <a:solidFill>
                  <a:srgbClr val="17302B"/>
                </a:solidFill>
                <a:latin typeface="Helvetica Neue"/>
                <a:ea typeface="Helvetica Neue"/>
                <a:cs typeface="Helvetica Neue"/>
              </a:rPr>
              <a:t>1  Sign in</a:t>
            </a:r>
          </a:p>
        </p:txBody>
      </p:sp>
      <p:sp>
        <p:nvSpPr>
          <p:cNvPr id="28" name="">
            <a:extLst xmlns:a="http://schemas.openxmlformats.org/drawingml/2006/main">
              <a:ext uri="{FF2B5EF4-FFF2-40B4-BE49-F238E27FC236}">
                <a16:creationId xmlns:a16="http://schemas.microsoft.com/office/drawing/2014/main" id="{A983C511-73B1-4E59-BEC3-41D73506A587}"/>
              </a:ext>
            </a:extLst>
          </p:cNvPr>
          <p:cNvSpPr>
            <a:spLocks xmlns:a="http://schemas.openxmlformats.org/drawingml/2006/main" noGrp="1"/>
          </p:cNvSpPr>
          <p:nvPr/>
        </p:nvSpPr>
        <p:spPr>
          <a:xfrm xmlns:a="http://schemas.openxmlformats.org/drawingml/2006/main">
            <a:off x="1143000" y="3057525"/>
            <a:ext cx="9525" cy="9525"/>
          </a:xfrm>
          <a:prstGeom xmlns:a="http://schemas.openxmlformats.org/drawingml/2006/main" prst="rect">
            <a:avLst/>
          </a:prstGeom>
          <a:noFill xmlns:a="http://schemas.openxmlformats.org/drawingml/2006/main"/>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7250D8F-0321-48B9-9C87-7CCAF8172A42}"/>
              </a:ext>
            </a:extLst>
          </p:cNvPr>
          <p:cNvSpPr>
            <a:spLocks xmlns:a="http://schemas.openxmlformats.org/drawingml/2006/main" noGrp="1"/>
          </p:cNvSpPr>
          <p:nvPr/>
        </p:nvSpPr>
        <p:spPr>
          <a:xfrm xmlns:a="http://schemas.openxmlformats.org/drawingml/2006/main">
            <a:off x="7543800" y="3057525"/>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80" name=""/>
          <p:cNvCxnSpPr>
            <a:stCxn xmlns:a="http://schemas.openxmlformats.org/drawingml/2006/main" id="28" idx="3"/>
            <a:endCxn xmlns:a="http://schemas.openxmlformats.org/drawingml/2006/main" id="29" idx="1"/>
          </p:cNvCxnSpPr>
          <p:nvPr/>
        </p:nvCxnSpPr>
        <p:spPr>
          <a:xfrm xmlns:a="http://schemas.openxmlformats.org/drawingml/2006/main">
            <a:off x="1152525" y="3062288"/>
            <a:ext cx="6391275" cy="0"/>
          </a:xfrm>
          <a:prstGeom xmlns:a="http://schemas.openxmlformats.org/drawingml/2006/main" prst="straightConnector1">
            <a:avLst/>
          </a:prstGeom>
          <a:ln xmlns:a="http://schemas.openxmlformats.org/drawingml/2006/main" w="19050">
            <a:solidFill>
              <a:srgbClr val="117C63"/>
            </a:solidFill>
            <a:tailEnd type="triangle" w="med" len="med"/>
          </a:ln>
        </p:spPr>
      </p:cxnSp>
      <p:sp>
        <p:nvSpPr>
          <p:cNvPr id="31" name="">
            <a:extLst xmlns:a="http://schemas.openxmlformats.org/drawingml/2006/main">
              <a:ext uri="{FF2B5EF4-FFF2-40B4-BE49-F238E27FC236}">
                <a16:creationId xmlns:a16="http://schemas.microsoft.com/office/drawing/2014/main" id="{E2213043-0BF1-4B3B-BA5C-6499C3F189C2}"/>
              </a:ext>
            </a:extLst>
          </p:cNvPr>
          <p:cNvSpPr>
            <a:spLocks xmlns:a="http://schemas.openxmlformats.org/drawingml/2006/main" noGrp="1"/>
          </p:cNvSpPr>
          <p:nvPr/>
        </p:nvSpPr>
        <p:spPr>
          <a:xfrm xmlns:a="http://schemas.openxmlformats.org/drawingml/2006/main">
            <a:off x="1219200" y="2743200"/>
            <a:ext cx="6248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17302B"/>
                </a:solidFill>
                <a:latin typeface="Helvetica Neue"/>
                <a:ea typeface="Helvetica Neue"/>
                <a:cs typeface="Helvetica Neue"/>
              </a:defRPr>
            </a:pPr>
            <a:r>
              <a:rPr sz="1575" b="0">
                <a:solidFill>
                  <a:srgbClr val="17302B"/>
                </a:solidFill>
                <a:latin typeface="Helvetica Neue"/>
                <a:ea typeface="Helvetica Neue"/>
                <a:cs typeface="Helvetica Neue"/>
              </a:rPr>
              <a:t>2  Manage connection and grants</a:t>
            </a:r>
          </a:p>
        </p:txBody>
      </p:sp>
      <p:sp>
        <p:nvSpPr>
          <p:cNvPr id="32" name="">
            <a:extLst xmlns:a="http://schemas.openxmlformats.org/drawingml/2006/main">
              <a:ext uri="{FF2B5EF4-FFF2-40B4-BE49-F238E27FC236}">
                <a16:creationId xmlns:a16="http://schemas.microsoft.com/office/drawing/2014/main" id="{075584E4-94E1-4426-AAE7-AB41BE509D40}"/>
              </a:ext>
            </a:extLst>
          </p:cNvPr>
          <p:cNvSpPr>
            <a:spLocks xmlns:a="http://schemas.openxmlformats.org/drawingml/2006/main" noGrp="1"/>
          </p:cNvSpPr>
          <p:nvPr/>
        </p:nvSpPr>
        <p:spPr>
          <a:xfrm xmlns:a="http://schemas.openxmlformats.org/drawingml/2006/main">
            <a:off x="7543800" y="3476625"/>
            <a:ext cx="9525" cy="9525"/>
          </a:xfrm>
          <a:prstGeom xmlns:a="http://schemas.openxmlformats.org/drawingml/2006/main" prst="rect">
            <a:avLst/>
          </a:prstGeom>
          <a:noFill xmlns:a="http://schemas.openxmlformats.org/drawingml/2006/main"/>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665D1A79-0B0F-41F4-8084-A4B6435D166A}"/>
              </a:ext>
            </a:extLst>
          </p:cNvPr>
          <p:cNvSpPr>
            <a:spLocks xmlns:a="http://schemas.openxmlformats.org/drawingml/2006/main" noGrp="1"/>
          </p:cNvSpPr>
          <p:nvPr/>
        </p:nvSpPr>
        <p:spPr>
          <a:xfrm xmlns:a="http://schemas.openxmlformats.org/drawingml/2006/main">
            <a:off x="9144000" y="3476625"/>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84" name=""/>
          <p:cNvCxnSpPr>
            <a:stCxn xmlns:a="http://schemas.openxmlformats.org/drawingml/2006/main" id="32" idx="3"/>
            <a:endCxn xmlns:a="http://schemas.openxmlformats.org/drawingml/2006/main" id="33" idx="1"/>
          </p:cNvCxnSpPr>
          <p:nvPr/>
        </p:nvCxnSpPr>
        <p:spPr>
          <a:xfrm xmlns:a="http://schemas.openxmlformats.org/drawingml/2006/main">
            <a:off x="7553325" y="3481388"/>
            <a:ext cx="1590675" cy="0"/>
          </a:xfrm>
          <a:prstGeom xmlns:a="http://schemas.openxmlformats.org/drawingml/2006/main" prst="straightConnector1">
            <a:avLst/>
          </a:prstGeom>
          <a:ln xmlns:a="http://schemas.openxmlformats.org/drawingml/2006/main" w="19050">
            <a:solidFill>
              <a:srgbClr val="117C63"/>
            </a:solidFill>
            <a:tailEnd type="triangle" w="med" len="med"/>
          </a:ln>
        </p:spPr>
      </p:cxnSp>
      <p:sp>
        <p:nvSpPr>
          <p:cNvPr id="35" name="">
            <a:extLst xmlns:a="http://schemas.openxmlformats.org/drawingml/2006/main">
              <a:ext uri="{FF2B5EF4-FFF2-40B4-BE49-F238E27FC236}">
                <a16:creationId xmlns:a16="http://schemas.microsoft.com/office/drawing/2014/main" id="{6444128F-B50C-4FA0-ADC2-1078E1E6E08A}"/>
              </a:ext>
            </a:extLst>
          </p:cNvPr>
          <p:cNvSpPr>
            <a:spLocks xmlns:a="http://schemas.openxmlformats.org/drawingml/2006/main" noGrp="1"/>
          </p:cNvSpPr>
          <p:nvPr/>
        </p:nvSpPr>
        <p:spPr>
          <a:xfrm xmlns:a="http://schemas.openxmlformats.org/drawingml/2006/main">
            <a:off x="7620000" y="3162300"/>
            <a:ext cx="144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7302B"/>
                </a:solidFill>
                <a:latin typeface="Helvetica Neue"/>
                <a:ea typeface="Helvetica Neue"/>
                <a:cs typeface="Helvetica Neue"/>
              </a:defRPr>
            </a:pPr>
            <a:r>
              <a:rPr sz="1500" b="0">
                <a:solidFill>
                  <a:srgbClr val="17302B"/>
                </a:solidFill>
                <a:latin typeface="Helvetica Neue"/>
                <a:ea typeface="Helvetica Neue"/>
                <a:cs typeface="Helvetica Neue"/>
              </a:rPr>
              <a:t>3  Store secret</a:t>
            </a:r>
          </a:p>
        </p:txBody>
      </p:sp>
      <p:sp>
        <p:nvSpPr>
          <p:cNvPr id="36" name="">
            <a:extLst xmlns:a="http://schemas.openxmlformats.org/drawingml/2006/main">
              <a:ext uri="{FF2B5EF4-FFF2-40B4-BE49-F238E27FC236}">
                <a16:creationId xmlns:a16="http://schemas.microsoft.com/office/drawing/2014/main" id="{BF32BD2E-B4AB-4D72-A7C1-236FBF257CF1}"/>
              </a:ext>
            </a:extLst>
          </p:cNvPr>
          <p:cNvSpPr>
            <a:spLocks xmlns:a="http://schemas.openxmlformats.org/drawingml/2006/main" noGrp="1"/>
          </p:cNvSpPr>
          <p:nvPr/>
        </p:nvSpPr>
        <p:spPr>
          <a:xfrm xmlns:a="http://schemas.openxmlformats.org/drawingml/2006/main">
            <a:off x="1143000" y="3895725"/>
            <a:ext cx="9525" cy="9525"/>
          </a:xfrm>
          <a:prstGeom xmlns:a="http://schemas.openxmlformats.org/drawingml/2006/main" prst="rect">
            <a:avLst/>
          </a:prstGeom>
          <a:noFill xmlns:a="http://schemas.openxmlformats.org/drawingml/2006/main"/>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DC0D3AC4-ABCA-46FB-8D5F-9867E1CF3583}"/>
              </a:ext>
            </a:extLst>
          </p:cNvPr>
          <p:cNvSpPr>
            <a:spLocks xmlns:a="http://schemas.openxmlformats.org/drawingml/2006/main" noGrp="1"/>
          </p:cNvSpPr>
          <p:nvPr/>
        </p:nvSpPr>
        <p:spPr>
          <a:xfrm xmlns:a="http://schemas.openxmlformats.org/drawingml/2006/main">
            <a:off x="4343400" y="3895725"/>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88" name=""/>
          <p:cNvCxnSpPr>
            <a:stCxn xmlns:a="http://schemas.openxmlformats.org/drawingml/2006/main" id="36" idx="3"/>
            <a:endCxn xmlns:a="http://schemas.openxmlformats.org/drawingml/2006/main" id="37" idx="1"/>
          </p:cNvCxnSpPr>
          <p:nvPr/>
        </p:nvCxnSpPr>
        <p:spPr>
          <a:xfrm xmlns:a="http://schemas.openxmlformats.org/drawingml/2006/main">
            <a:off x="1152525" y="3900488"/>
            <a:ext cx="3190875" cy="0"/>
          </a:xfrm>
          <a:prstGeom xmlns:a="http://schemas.openxmlformats.org/drawingml/2006/main" prst="straightConnector1">
            <a:avLst/>
          </a:prstGeom>
          <a:ln xmlns:a="http://schemas.openxmlformats.org/drawingml/2006/main" w="19050">
            <a:solidFill>
              <a:srgbClr val="117C63"/>
            </a:solidFill>
            <a:tailEnd type="triangle" w="med" len="med"/>
          </a:ln>
        </p:spPr>
      </p:cxnSp>
      <p:sp>
        <p:nvSpPr>
          <p:cNvPr id="39" name="">
            <a:extLst xmlns:a="http://schemas.openxmlformats.org/drawingml/2006/main">
              <a:ext uri="{FF2B5EF4-FFF2-40B4-BE49-F238E27FC236}">
                <a16:creationId xmlns:a16="http://schemas.microsoft.com/office/drawing/2014/main" id="{F9788A57-018E-411A-885B-B3928700E799}"/>
              </a:ext>
            </a:extLst>
          </p:cNvPr>
          <p:cNvSpPr>
            <a:spLocks xmlns:a="http://schemas.openxmlformats.org/drawingml/2006/main" noGrp="1"/>
          </p:cNvSpPr>
          <p:nvPr/>
        </p:nvSpPr>
        <p:spPr>
          <a:xfrm xmlns:a="http://schemas.openxmlformats.org/drawingml/2006/main">
            <a:off x="1219200" y="3581400"/>
            <a:ext cx="304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17302B"/>
                </a:solidFill>
                <a:latin typeface="Helvetica Neue"/>
                <a:ea typeface="Helvetica Neue"/>
                <a:cs typeface="Helvetica Neue"/>
              </a:defRPr>
            </a:pPr>
            <a:r>
              <a:rPr sz="1575" b="0">
                <a:solidFill>
                  <a:srgbClr val="17302B"/>
                </a:solidFill>
                <a:latin typeface="Helvetica Neue"/>
                <a:ea typeface="Helvetica Neue"/>
                <a:cs typeface="Helvetica Neue"/>
              </a:rPr>
              <a:t>4  Run with connection</a:t>
            </a:r>
          </a:p>
        </p:txBody>
      </p:sp>
      <p:sp>
        <p:nvSpPr>
          <p:cNvPr id="40" name="">
            <a:extLst xmlns:a="http://schemas.openxmlformats.org/drawingml/2006/main">
              <a:ext uri="{FF2B5EF4-FFF2-40B4-BE49-F238E27FC236}">
                <a16:creationId xmlns:a16="http://schemas.microsoft.com/office/drawing/2014/main" id="{EA253ED9-5329-47AE-9CBA-DD7B4900ED62}"/>
              </a:ext>
            </a:extLst>
          </p:cNvPr>
          <p:cNvSpPr>
            <a:spLocks xmlns:a="http://schemas.openxmlformats.org/drawingml/2006/main" noGrp="1"/>
          </p:cNvSpPr>
          <p:nvPr/>
        </p:nvSpPr>
        <p:spPr>
          <a:xfrm xmlns:a="http://schemas.openxmlformats.org/drawingml/2006/main">
            <a:off x="4343400" y="4314825"/>
            <a:ext cx="9525" cy="9525"/>
          </a:xfrm>
          <a:prstGeom xmlns:a="http://schemas.openxmlformats.org/drawingml/2006/main" prst="rect">
            <a:avLst/>
          </a:prstGeom>
          <a:noFill xmlns:a="http://schemas.openxmlformats.org/drawingml/2006/main"/>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CCC65F60-6EFF-4261-9440-8C52FE58FD56}"/>
              </a:ext>
            </a:extLst>
          </p:cNvPr>
          <p:cNvSpPr>
            <a:spLocks xmlns:a="http://schemas.openxmlformats.org/drawingml/2006/main" noGrp="1"/>
          </p:cNvSpPr>
          <p:nvPr/>
        </p:nvSpPr>
        <p:spPr>
          <a:xfrm xmlns:a="http://schemas.openxmlformats.org/drawingml/2006/main">
            <a:off x="7543800" y="4314825"/>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92" name=""/>
          <p:cNvCxnSpPr>
            <a:stCxn xmlns:a="http://schemas.openxmlformats.org/drawingml/2006/main" id="40" idx="3"/>
            <a:endCxn xmlns:a="http://schemas.openxmlformats.org/drawingml/2006/main" id="41" idx="1"/>
          </p:cNvCxnSpPr>
          <p:nvPr/>
        </p:nvCxnSpPr>
        <p:spPr>
          <a:xfrm xmlns:a="http://schemas.openxmlformats.org/drawingml/2006/main">
            <a:off x="4352925" y="4319588"/>
            <a:ext cx="3190875" cy="0"/>
          </a:xfrm>
          <a:prstGeom xmlns:a="http://schemas.openxmlformats.org/drawingml/2006/main" prst="straightConnector1">
            <a:avLst/>
          </a:prstGeom>
          <a:ln xmlns:a="http://schemas.openxmlformats.org/drawingml/2006/main" w="19050">
            <a:solidFill>
              <a:srgbClr val="117C63"/>
            </a:solidFill>
            <a:tailEnd type="triangle" w="med" len="med"/>
          </a:ln>
        </p:spPr>
      </p:cxnSp>
      <p:sp>
        <p:nvSpPr>
          <p:cNvPr id="43" name="">
            <a:extLst xmlns:a="http://schemas.openxmlformats.org/drawingml/2006/main">
              <a:ext uri="{FF2B5EF4-FFF2-40B4-BE49-F238E27FC236}">
                <a16:creationId xmlns:a16="http://schemas.microsoft.com/office/drawing/2014/main" id="{B87A2F3D-FD7D-4C72-B5B4-AC68B51A9B93}"/>
              </a:ext>
            </a:extLst>
          </p:cNvPr>
          <p:cNvSpPr>
            <a:spLocks xmlns:a="http://schemas.openxmlformats.org/drawingml/2006/main" noGrp="1"/>
          </p:cNvSpPr>
          <p:nvPr/>
        </p:nvSpPr>
        <p:spPr>
          <a:xfrm xmlns:a="http://schemas.openxmlformats.org/drawingml/2006/main">
            <a:off x="4419600" y="4000500"/>
            <a:ext cx="304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17302B"/>
                </a:solidFill>
                <a:latin typeface="Helvetica Neue"/>
                <a:ea typeface="Helvetica Neue"/>
                <a:cs typeface="Helvetica Neue"/>
              </a:defRPr>
            </a:pPr>
            <a:r>
              <a:rPr sz="1575" b="0">
                <a:solidFill>
                  <a:srgbClr val="17302B"/>
                </a:solidFill>
                <a:latin typeface="Helvetica Neue"/>
                <a:ea typeface="Helvetica Neue"/>
                <a:cs typeface="Helvetica Neue"/>
              </a:rPr>
              <a:t>5  Create authorized run</a:t>
            </a:r>
          </a:p>
        </p:txBody>
      </p:sp>
      <p:sp>
        <p:nvSpPr>
          <p:cNvPr id="44" name="">
            <a:extLst xmlns:a="http://schemas.openxmlformats.org/drawingml/2006/main">
              <a:ext uri="{FF2B5EF4-FFF2-40B4-BE49-F238E27FC236}">
                <a16:creationId xmlns:a16="http://schemas.microsoft.com/office/drawing/2014/main" id="{37A5F90F-DC31-477D-947A-EBCA39637121}"/>
              </a:ext>
            </a:extLst>
          </p:cNvPr>
          <p:cNvSpPr>
            <a:spLocks xmlns:a="http://schemas.openxmlformats.org/drawingml/2006/main" noGrp="1"/>
          </p:cNvSpPr>
          <p:nvPr/>
        </p:nvSpPr>
        <p:spPr>
          <a:xfrm xmlns:a="http://schemas.openxmlformats.org/drawingml/2006/main">
            <a:off x="4343400" y="4733925"/>
            <a:ext cx="9525" cy="9525"/>
          </a:xfrm>
          <a:prstGeom xmlns:a="http://schemas.openxmlformats.org/drawingml/2006/main" prst="rect">
            <a:avLst/>
          </a:prstGeom>
          <a:noFill xmlns:a="http://schemas.openxmlformats.org/drawingml/2006/main"/>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394F15E2-98DA-4280-A3EB-1FC2B40AC59A}"/>
              </a:ext>
            </a:extLst>
          </p:cNvPr>
          <p:cNvSpPr>
            <a:spLocks xmlns:a="http://schemas.openxmlformats.org/drawingml/2006/main" noGrp="1"/>
          </p:cNvSpPr>
          <p:nvPr/>
        </p:nvSpPr>
        <p:spPr>
          <a:xfrm xmlns:a="http://schemas.openxmlformats.org/drawingml/2006/main">
            <a:off x="5943600" y="4733925"/>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96" name=""/>
          <p:cNvCxnSpPr>
            <a:stCxn xmlns:a="http://schemas.openxmlformats.org/drawingml/2006/main" id="44" idx="3"/>
            <a:endCxn xmlns:a="http://schemas.openxmlformats.org/drawingml/2006/main" id="45" idx="1"/>
          </p:cNvCxnSpPr>
          <p:nvPr/>
        </p:nvCxnSpPr>
        <p:spPr>
          <a:xfrm xmlns:a="http://schemas.openxmlformats.org/drawingml/2006/main">
            <a:off x="4352925" y="4738688"/>
            <a:ext cx="1590675" cy="0"/>
          </a:xfrm>
          <a:prstGeom xmlns:a="http://schemas.openxmlformats.org/drawingml/2006/main" prst="straightConnector1">
            <a:avLst/>
          </a:prstGeom>
          <a:ln xmlns:a="http://schemas.openxmlformats.org/drawingml/2006/main" w="19050">
            <a:solidFill>
              <a:srgbClr val="117C63"/>
            </a:solidFill>
            <a:tailEnd type="triangle" w="med" len="med"/>
          </a:ln>
        </p:spPr>
      </p:cxnSp>
      <p:sp>
        <p:nvSpPr>
          <p:cNvPr id="47" name="">
            <a:extLst xmlns:a="http://schemas.openxmlformats.org/drawingml/2006/main">
              <a:ext uri="{FF2B5EF4-FFF2-40B4-BE49-F238E27FC236}">
                <a16:creationId xmlns:a16="http://schemas.microsoft.com/office/drawing/2014/main" id="{25606DE2-9848-4620-A5E0-88F21CC51D3F}"/>
              </a:ext>
            </a:extLst>
          </p:cNvPr>
          <p:cNvSpPr>
            <a:spLocks xmlns:a="http://schemas.openxmlformats.org/drawingml/2006/main" noGrp="1"/>
          </p:cNvSpPr>
          <p:nvPr/>
        </p:nvSpPr>
        <p:spPr>
          <a:xfrm xmlns:a="http://schemas.openxmlformats.org/drawingml/2006/main">
            <a:off x="4419600" y="4419600"/>
            <a:ext cx="144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17302B"/>
                </a:solidFill>
                <a:latin typeface="Helvetica Neue"/>
                <a:ea typeface="Helvetica Neue"/>
                <a:cs typeface="Helvetica Neue"/>
              </a:defRPr>
            </a:pPr>
            <a:r>
              <a:rPr sz="1575" b="0">
                <a:solidFill>
                  <a:srgbClr val="17302B"/>
                </a:solidFill>
                <a:latin typeface="Helvetica Neue"/>
                <a:ea typeface="Helvetica Neue"/>
                <a:cs typeface="Helvetica Neue"/>
              </a:rPr>
              <a:t>6  Compile</a:t>
            </a:r>
          </a:p>
        </p:txBody>
      </p:sp>
      <p:sp>
        <p:nvSpPr>
          <p:cNvPr id="48" name="">
            <a:extLst xmlns:a="http://schemas.openxmlformats.org/drawingml/2006/main">
              <a:ext uri="{FF2B5EF4-FFF2-40B4-BE49-F238E27FC236}">
                <a16:creationId xmlns:a16="http://schemas.microsoft.com/office/drawing/2014/main" id="{C21D3939-A232-4E35-BF7F-C349EAE7AB03}"/>
              </a:ext>
            </a:extLst>
          </p:cNvPr>
          <p:cNvSpPr>
            <a:spLocks xmlns:a="http://schemas.openxmlformats.org/drawingml/2006/main" noGrp="1"/>
          </p:cNvSpPr>
          <p:nvPr/>
        </p:nvSpPr>
        <p:spPr>
          <a:xfrm xmlns:a="http://schemas.openxmlformats.org/drawingml/2006/main">
            <a:off x="5943600" y="5153025"/>
            <a:ext cx="9525" cy="9525"/>
          </a:xfrm>
          <a:prstGeom xmlns:a="http://schemas.openxmlformats.org/drawingml/2006/main" prst="rect">
            <a:avLst/>
          </a:prstGeom>
          <a:noFill xmlns:a="http://schemas.openxmlformats.org/drawingml/2006/main"/>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56C0752D-4FC0-452C-9386-43C72DAE80FC}"/>
              </a:ext>
            </a:extLst>
          </p:cNvPr>
          <p:cNvSpPr>
            <a:spLocks xmlns:a="http://schemas.openxmlformats.org/drawingml/2006/main" noGrp="1"/>
          </p:cNvSpPr>
          <p:nvPr/>
        </p:nvSpPr>
        <p:spPr>
          <a:xfrm xmlns:a="http://schemas.openxmlformats.org/drawingml/2006/main">
            <a:off x="7543800" y="5153025"/>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00" name=""/>
          <p:cNvCxnSpPr>
            <a:stCxn xmlns:a="http://schemas.openxmlformats.org/drawingml/2006/main" id="48" idx="3"/>
            <a:endCxn xmlns:a="http://schemas.openxmlformats.org/drawingml/2006/main" id="49" idx="1"/>
          </p:cNvCxnSpPr>
          <p:nvPr/>
        </p:nvCxnSpPr>
        <p:spPr>
          <a:xfrm xmlns:a="http://schemas.openxmlformats.org/drawingml/2006/main">
            <a:off x="5953125" y="5157788"/>
            <a:ext cx="1590675" cy="0"/>
          </a:xfrm>
          <a:prstGeom xmlns:a="http://schemas.openxmlformats.org/drawingml/2006/main" prst="straightConnector1">
            <a:avLst/>
          </a:prstGeom>
          <a:ln xmlns:a="http://schemas.openxmlformats.org/drawingml/2006/main" w="19050">
            <a:solidFill>
              <a:srgbClr val="117C63"/>
            </a:solidFill>
            <a:tailEnd type="triangle" w="med" len="med"/>
          </a:ln>
        </p:spPr>
      </p:cxnSp>
      <p:sp>
        <p:nvSpPr>
          <p:cNvPr id="51" name="">
            <a:extLst xmlns:a="http://schemas.openxmlformats.org/drawingml/2006/main">
              <a:ext uri="{FF2B5EF4-FFF2-40B4-BE49-F238E27FC236}">
                <a16:creationId xmlns:a16="http://schemas.microsoft.com/office/drawing/2014/main" id="{6E2AF650-9881-4E7D-A5A9-E8CD1E0ABA29}"/>
              </a:ext>
            </a:extLst>
          </p:cNvPr>
          <p:cNvSpPr>
            <a:spLocks xmlns:a="http://schemas.openxmlformats.org/drawingml/2006/main" noGrp="1"/>
          </p:cNvSpPr>
          <p:nvPr/>
        </p:nvSpPr>
        <p:spPr>
          <a:xfrm xmlns:a="http://schemas.openxmlformats.org/drawingml/2006/main">
            <a:off x="6019800" y="4838700"/>
            <a:ext cx="144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7302B"/>
                </a:solidFill>
                <a:latin typeface="Helvetica Neue"/>
                <a:ea typeface="Helvetica Neue"/>
                <a:cs typeface="Helvetica Neue"/>
              </a:defRPr>
            </a:pPr>
            <a:r>
              <a:rPr sz="1500" b="0">
                <a:solidFill>
                  <a:srgbClr val="17302B"/>
                </a:solidFill>
                <a:latin typeface="Helvetica Neue"/>
                <a:ea typeface="Helvetica Neue"/>
                <a:cs typeface="Helvetica Neue"/>
              </a:rPr>
              <a:t>7  Mint token</a:t>
            </a:r>
          </a:p>
        </p:txBody>
      </p:sp>
      <p:sp>
        <p:nvSpPr>
          <p:cNvPr id="52" name="">
            <a:extLst xmlns:a="http://schemas.openxmlformats.org/drawingml/2006/main">
              <a:ext uri="{FF2B5EF4-FFF2-40B4-BE49-F238E27FC236}">
                <a16:creationId xmlns:a16="http://schemas.microsoft.com/office/drawing/2014/main" id="{CD16FC22-12A1-4975-BD5A-2EE8D75E5119}"/>
              </a:ext>
            </a:extLst>
          </p:cNvPr>
          <p:cNvSpPr>
            <a:spLocks xmlns:a="http://schemas.openxmlformats.org/drawingml/2006/main" noGrp="1"/>
          </p:cNvSpPr>
          <p:nvPr/>
        </p:nvSpPr>
        <p:spPr>
          <a:xfrm xmlns:a="http://schemas.openxmlformats.org/drawingml/2006/main">
            <a:off x="5943600" y="5572125"/>
            <a:ext cx="9525" cy="9525"/>
          </a:xfrm>
          <a:prstGeom xmlns:a="http://schemas.openxmlformats.org/drawingml/2006/main" prst="rect">
            <a:avLst/>
          </a:prstGeom>
          <a:noFill xmlns:a="http://schemas.openxmlformats.org/drawingml/2006/main"/>
          <a:ln xmlns:a="http://schemas.openxmlformats.org/drawingml/2006/main" w="0">
            <a:noFill/>
          </a:ln>
        </p:spPr>
      </p:sp>
      <p:sp>
        <p:nvSpPr>
          <p:cNvPr id="53" name="">
            <a:extLst xmlns:a="http://schemas.openxmlformats.org/drawingml/2006/main">
              <a:ext uri="{FF2B5EF4-FFF2-40B4-BE49-F238E27FC236}">
                <a16:creationId xmlns:a16="http://schemas.microsoft.com/office/drawing/2014/main" id="{5B368C75-977A-49C6-8030-D8DAF992E2BE}"/>
              </a:ext>
            </a:extLst>
          </p:cNvPr>
          <p:cNvSpPr>
            <a:spLocks xmlns:a="http://schemas.openxmlformats.org/drawingml/2006/main" noGrp="1"/>
          </p:cNvSpPr>
          <p:nvPr/>
        </p:nvSpPr>
        <p:spPr>
          <a:xfrm xmlns:a="http://schemas.openxmlformats.org/drawingml/2006/main">
            <a:off x="9144000" y="5572125"/>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04" name=""/>
          <p:cNvCxnSpPr>
            <a:stCxn xmlns:a="http://schemas.openxmlformats.org/drawingml/2006/main" id="52" idx="3"/>
            <a:endCxn xmlns:a="http://schemas.openxmlformats.org/drawingml/2006/main" id="53" idx="1"/>
          </p:cNvCxnSpPr>
          <p:nvPr/>
        </p:nvCxnSpPr>
        <p:spPr>
          <a:xfrm xmlns:a="http://schemas.openxmlformats.org/drawingml/2006/main">
            <a:off x="5953125" y="5576888"/>
            <a:ext cx="3190875" cy="0"/>
          </a:xfrm>
          <a:prstGeom xmlns:a="http://schemas.openxmlformats.org/drawingml/2006/main" prst="straightConnector1">
            <a:avLst/>
          </a:prstGeom>
          <a:ln xmlns:a="http://schemas.openxmlformats.org/drawingml/2006/main" w="19050">
            <a:solidFill>
              <a:srgbClr val="117C63"/>
            </a:solidFill>
            <a:tailEnd type="triangle" w="med" len="med"/>
          </a:ln>
        </p:spPr>
      </p:cxnSp>
      <p:sp>
        <p:nvSpPr>
          <p:cNvPr id="55" name="">
            <a:extLst xmlns:a="http://schemas.openxmlformats.org/drawingml/2006/main">
              <a:ext uri="{FF2B5EF4-FFF2-40B4-BE49-F238E27FC236}">
                <a16:creationId xmlns:a16="http://schemas.microsoft.com/office/drawing/2014/main" id="{F6DEF29D-0899-47FA-A17A-713FA66680A1}"/>
              </a:ext>
            </a:extLst>
          </p:cNvPr>
          <p:cNvSpPr>
            <a:spLocks xmlns:a="http://schemas.openxmlformats.org/drawingml/2006/main" noGrp="1"/>
          </p:cNvSpPr>
          <p:nvPr/>
        </p:nvSpPr>
        <p:spPr>
          <a:xfrm xmlns:a="http://schemas.openxmlformats.org/drawingml/2006/main">
            <a:off x="6019800" y="5257800"/>
            <a:ext cx="304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7302B"/>
                </a:solidFill>
                <a:latin typeface="Helvetica Neue"/>
                <a:ea typeface="Helvetica Neue"/>
                <a:cs typeface="Helvetica Neue"/>
              </a:defRPr>
            </a:pPr>
            <a:r>
              <a:rPr sz="1500" b="0">
                <a:solidFill>
                  <a:srgbClr val="17302B"/>
                </a:solidFill>
                <a:latin typeface="Helvetica Neue"/>
                <a:ea typeface="Helvetica Neue"/>
                <a:cs typeface="Helvetica Neue"/>
              </a:rPr>
              <a:t>8  Execute: token + payload</a:t>
            </a:r>
          </a:p>
        </p:txBody>
      </p:sp>
      <p:sp>
        <p:nvSpPr>
          <p:cNvPr id="56" name="">
            <a:extLst xmlns:a="http://schemas.openxmlformats.org/drawingml/2006/main">
              <a:ext uri="{FF2B5EF4-FFF2-40B4-BE49-F238E27FC236}">
                <a16:creationId xmlns:a16="http://schemas.microsoft.com/office/drawing/2014/main" id="{A287FE50-F7A4-4FC0-938D-37384B6D3538}"/>
              </a:ext>
            </a:extLst>
          </p:cNvPr>
          <p:cNvSpPr>
            <a:spLocks xmlns:a="http://schemas.openxmlformats.org/drawingml/2006/main" noGrp="1"/>
          </p:cNvSpPr>
          <p:nvPr/>
        </p:nvSpPr>
        <p:spPr>
          <a:xfrm xmlns:a="http://schemas.openxmlformats.org/drawingml/2006/main">
            <a:off x="9144000" y="6143625"/>
            <a:ext cx="9525" cy="9525"/>
          </a:xfrm>
          <a:prstGeom xmlns:a="http://schemas.openxmlformats.org/drawingml/2006/main" prst="rect">
            <a:avLst/>
          </a:prstGeom>
          <a:noFill xmlns:a="http://schemas.openxmlformats.org/drawingml/2006/main"/>
          <a:ln xmlns:a="http://schemas.openxmlformats.org/drawingml/2006/main" w="0">
            <a:noFill/>
          </a:ln>
        </p:spPr>
      </p:sp>
      <p:sp>
        <p:nvSpPr>
          <p:cNvPr id="57" name="">
            <a:extLst xmlns:a="http://schemas.openxmlformats.org/drawingml/2006/main">
              <a:ext uri="{FF2B5EF4-FFF2-40B4-BE49-F238E27FC236}">
                <a16:creationId xmlns:a16="http://schemas.microsoft.com/office/drawing/2014/main" id="{25A72750-2BD1-4396-90F9-AD98A8CA0B0E}"/>
              </a:ext>
            </a:extLst>
          </p:cNvPr>
          <p:cNvSpPr>
            <a:spLocks xmlns:a="http://schemas.openxmlformats.org/drawingml/2006/main" noGrp="1"/>
          </p:cNvSpPr>
          <p:nvPr/>
        </p:nvSpPr>
        <p:spPr>
          <a:xfrm xmlns:a="http://schemas.openxmlformats.org/drawingml/2006/main">
            <a:off x="10744200" y="6143625"/>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08" name=""/>
          <p:cNvCxnSpPr>
            <a:stCxn xmlns:a="http://schemas.openxmlformats.org/drawingml/2006/main" id="56" idx="3"/>
            <a:endCxn xmlns:a="http://schemas.openxmlformats.org/drawingml/2006/main" id="57" idx="1"/>
          </p:cNvCxnSpPr>
          <p:nvPr/>
        </p:nvCxnSpPr>
        <p:spPr>
          <a:xfrm xmlns:a="http://schemas.openxmlformats.org/drawingml/2006/main">
            <a:off x="9153525" y="6148388"/>
            <a:ext cx="1590675" cy="0"/>
          </a:xfrm>
          <a:prstGeom xmlns:a="http://schemas.openxmlformats.org/drawingml/2006/main" prst="straightConnector1">
            <a:avLst/>
          </a:prstGeom>
          <a:ln xmlns:a="http://schemas.openxmlformats.org/drawingml/2006/main" w="19050">
            <a:solidFill>
              <a:srgbClr val="117C63"/>
            </a:solidFill>
            <a:tailEnd type="triangle" w="med" len="med"/>
          </a:ln>
        </p:spPr>
      </p:cxnSp>
      <p:sp>
        <p:nvSpPr>
          <p:cNvPr id="59" name="">
            <a:extLst xmlns:a="http://schemas.openxmlformats.org/drawingml/2006/main">
              <a:ext uri="{FF2B5EF4-FFF2-40B4-BE49-F238E27FC236}">
                <a16:creationId xmlns:a16="http://schemas.microsoft.com/office/drawing/2014/main" id="{46E9BA47-AA0F-49AB-A713-BF1B25FCD237}"/>
              </a:ext>
            </a:extLst>
          </p:cNvPr>
          <p:cNvSpPr>
            <a:spLocks xmlns:a="http://schemas.openxmlformats.org/drawingml/2006/main" noGrp="1"/>
          </p:cNvSpPr>
          <p:nvPr/>
        </p:nvSpPr>
        <p:spPr>
          <a:xfrm xmlns:a="http://schemas.openxmlformats.org/drawingml/2006/main">
            <a:off x="9220200" y="582930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7302B"/>
                </a:solidFill>
                <a:latin typeface="Helvetica Neue"/>
                <a:ea typeface="Helvetica Neue"/>
                <a:cs typeface="Helvetica Neue"/>
              </a:defRPr>
            </a:pPr>
            <a:r>
              <a:rPr sz="1500" b="0">
                <a:solidFill>
                  <a:srgbClr val="17302B"/>
                </a:solidFill>
                <a:latin typeface="Helvetica Neue"/>
                <a:ea typeface="Helvetica Neue"/>
                <a:cs typeface="Helvetica Neue"/>
              </a:rPr>
              <a:t>9  Call with secret</a:t>
            </a:r>
          </a:p>
        </p:txBody>
      </p:sp>
      <p:sp>
        <p:nvSpPr>
          <p:cNvPr id="60" name="">
            <a:extLst xmlns:a="http://schemas.openxmlformats.org/drawingml/2006/main">
              <a:ext uri="{FF2B5EF4-FFF2-40B4-BE49-F238E27FC236}">
                <a16:creationId xmlns:a16="http://schemas.microsoft.com/office/drawing/2014/main" id="{6DAA9B5E-0DB9-412B-8A3D-01B8BC37AAF5}"/>
              </a:ext>
            </a:extLst>
          </p:cNvPr>
          <p:cNvSpPr>
            <a:spLocks xmlns:a="http://schemas.openxmlformats.org/drawingml/2006/main" noGrp="1"/>
          </p:cNvSpPr>
          <p:nvPr/>
        </p:nvSpPr>
        <p:spPr>
          <a:xfrm xmlns:a="http://schemas.openxmlformats.org/drawingml/2006/main">
            <a:off x="609600" y="6229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53645D"/>
                </a:solidFill>
                <a:latin typeface="Helvetica Neue"/>
                <a:ea typeface="Helvetica Neue"/>
                <a:cs typeface="Helvetica Neue"/>
              </a:defRPr>
            </a:pPr>
            <a:r>
              <a:rPr sz="1575" b="0">
                <a:solidFill>
                  <a:srgbClr val="53645D"/>
                </a:solidFill>
                <a:latin typeface="Helvetica Neue"/>
                <a:ea typeface="Helvetica Neue"/>
                <a:cs typeface="Helvetica Neue"/>
              </a:rPr>
              <a:t>Requests shown; responses return on the same path. Broker calls the service provider and keeps the API key secure.</a:t>
            </a:r>
          </a:p>
        </p:txBody>
      </p:sp>
    </p:spTree>
    <p:extLst>
      <p:ext uri="{BB962C8B-B14F-4D97-AF65-F5344CB8AC3E}">
        <p14:creationId xmlns:p14="http://schemas.microsoft.com/office/powerpoint/2010/main" val="308947880"/>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E9597F6-7383-43A5-A376-3894A677A8FB}"/>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302B"/>
                </a:solidFill>
                <a:latin typeface="Helvetica Neue"/>
                <a:ea typeface="Helvetica Neue"/>
                <a:cs typeface="Helvetica Neue"/>
              </a:defRPr>
            </a:pPr>
            <a:r>
              <a:rPr sz="3300" b="1">
                <a:solidFill>
                  <a:srgbClr val="17302B"/>
                </a:solidFill>
                <a:latin typeface="Helvetica Neue"/>
                <a:ea typeface="Helvetica Neue"/>
                <a:cs typeface="Helvetica Neue"/>
              </a:rPr>
              <a:t>How a protected call runs</a:t>
            </a:r>
          </a:p>
        </p:txBody>
      </p:sp>
      <p:sp>
        <p:nvSpPr>
          <p:cNvPr id="2" name="">
            <a:extLst xmlns:a="http://schemas.openxmlformats.org/drawingml/2006/main">
              <a:ext uri="{FF2B5EF4-FFF2-40B4-BE49-F238E27FC236}">
                <a16:creationId xmlns:a16="http://schemas.microsoft.com/office/drawing/2014/main" id="{4C041610-A025-47C5-8756-DB3144CD1C11}"/>
              </a:ext>
            </a:extLst>
          </p:cNvPr>
          <p:cNvSpPr>
            <a:spLocks xmlns:a="http://schemas.openxmlformats.org/drawingml/2006/main" noGrp="1"/>
          </p:cNvSpPr>
          <p:nvPr/>
        </p:nvSpPr>
        <p:spPr>
          <a:xfrm xmlns:a="http://schemas.openxmlformats.org/drawingml/2006/main">
            <a:off x="609600" y="169545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117C63"/>
                </a:solidFill>
                <a:latin typeface="Helvetica Neue"/>
                <a:ea typeface="Helvetica Neue"/>
                <a:cs typeface="Helvetica Neue"/>
              </a:defRPr>
            </a:pPr>
            <a:r>
              <a:rPr sz="2550" b="1">
                <a:solidFill>
                  <a:srgbClr val="117C6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8396EA76-E4BB-4EE2-BCA7-0B3E1685B2CB}"/>
              </a:ext>
            </a:extLst>
          </p:cNvPr>
          <p:cNvSpPr>
            <a:spLocks xmlns:a="http://schemas.openxmlformats.org/drawingml/2006/main" noGrp="1"/>
          </p:cNvSpPr>
          <p:nvPr/>
        </p:nvSpPr>
        <p:spPr>
          <a:xfrm xmlns:a="http://schemas.openxmlformats.org/drawingml/2006/main">
            <a:off x="1504950" y="1695450"/>
            <a:ext cx="4191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7302B"/>
                </a:solidFill>
                <a:latin typeface="Helvetica Neue"/>
                <a:ea typeface="Helvetica Neue"/>
                <a:cs typeface="Helvetica Neue"/>
              </a:defRPr>
            </a:pPr>
            <a:r>
              <a:rPr sz="2250" b="1">
                <a:solidFill>
                  <a:srgbClr val="17302B"/>
                </a:solidFill>
                <a:latin typeface="Helvetica Neue"/>
                <a:ea typeface="Helvetica Neue"/>
                <a:cs typeface="Helvetica Neue"/>
              </a:rPr>
              <a:t>Select a connection</a:t>
            </a:r>
          </a:p>
        </p:txBody>
      </p:sp>
      <p:sp>
        <p:nvSpPr>
          <p:cNvPr id="4" name="">
            <a:extLst xmlns:a="http://schemas.openxmlformats.org/drawingml/2006/main">
              <a:ext uri="{FF2B5EF4-FFF2-40B4-BE49-F238E27FC236}">
                <a16:creationId xmlns:a16="http://schemas.microsoft.com/office/drawing/2014/main" id="{3EA4B59F-D4FC-499D-A684-2CEAD4FE77D8}"/>
              </a:ext>
            </a:extLst>
          </p:cNvPr>
          <p:cNvSpPr>
            <a:spLocks xmlns:a="http://schemas.openxmlformats.org/drawingml/2006/main" noGrp="1"/>
          </p:cNvSpPr>
          <p:nvPr/>
        </p:nvSpPr>
        <p:spPr>
          <a:xfrm xmlns:a="http://schemas.openxmlformats.org/drawingml/2006/main">
            <a:off x="5962650" y="1695450"/>
            <a:ext cx="55054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7302B"/>
                </a:solidFill>
                <a:latin typeface="Helvetica Neue"/>
                <a:ea typeface="Helvetica Neue"/>
                <a:cs typeface="Helvetica Neue"/>
              </a:defRPr>
            </a:pPr>
            <a:r>
              <a:rPr sz="2025" b="0">
                <a:solidFill>
                  <a:srgbClr val="17302B"/>
                </a:solidFill>
                <a:latin typeface="Helvetica Neue"/>
                <a:ea typeface="Helvetica Neue"/>
                <a:cs typeface="Helvetica Neue"/>
              </a:rPr>
              <a:t>The gateway establishes the user and logical invocation.</a:t>
            </a:r>
          </a:p>
        </p:txBody>
      </p:sp>
      <p:sp>
        <p:nvSpPr>
          <p:cNvPr id="5" name="">
            <a:extLst xmlns:a="http://schemas.openxmlformats.org/drawingml/2006/main">
              <a:ext uri="{FF2B5EF4-FFF2-40B4-BE49-F238E27FC236}">
                <a16:creationId xmlns:a16="http://schemas.microsoft.com/office/drawing/2014/main" id="{19D15BC9-B984-42AF-9B6A-175DC98A1B19}"/>
              </a:ext>
            </a:extLst>
          </p:cNvPr>
          <p:cNvSpPr>
            <a:spLocks xmlns:a="http://schemas.openxmlformats.org/drawingml/2006/main" noGrp="1"/>
          </p:cNvSpPr>
          <p:nvPr/>
        </p:nvSpPr>
        <p:spPr>
          <a:xfrm xmlns:a="http://schemas.openxmlformats.org/drawingml/2006/main">
            <a:off x="609600" y="269557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117C63"/>
                </a:solidFill>
                <a:latin typeface="Helvetica Neue"/>
                <a:ea typeface="Helvetica Neue"/>
                <a:cs typeface="Helvetica Neue"/>
              </a:defRPr>
            </a:pPr>
            <a:r>
              <a:rPr sz="2550" b="1">
                <a:solidFill>
                  <a:srgbClr val="117C63"/>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3D55ECBF-7860-4E87-8E32-93EDAF26E436}"/>
              </a:ext>
            </a:extLst>
          </p:cNvPr>
          <p:cNvSpPr>
            <a:spLocks xmlns:a="http://schemas.openxmlformats.org/drawingml/2006/main" noGrp="1"/>
          </p:cNvSpPr>
          <p:nvPr/>
        </p:nvSpPr>
        <p:spPr>
          <a:xfrm xmlns:a="http://schemas.openxmlformats.org/drawingml/2006/main">
            <a:off x="1504950" y="2695575"/>
            <a:ext cx="4191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7302B"/>
                </a:solidFill>
                <a:latin typeface="Helvetica Neue"/>
                <a:ea typeface="Helvetica Neue"/>
                <a:cs typeface="Helvetica Neue"/>
              </a:defRPr>
            </a:pPr>
            <a:r>
              <a:rPr sz="2250" b="1">
                <a:solidFill>
                  <a:srgbClr val="17302B"/>
                </a:solidFill>
                <a:latin typeface="Helvetica Neue"/>
                <a:ea typeface="Helvetica Neue"/>
                <a:cs typeface="Helvetica Neue"/>
              </a:rPr>
              <a:t>Check the whole program</a:t>
            </a:r>
          </a:p>
        </p:txBody>
      </p:sp>
      <p:sp>
        <p:nvSpPr>
          <p:cNvPr id="7" name="">
            <a:extLst xmlns:a="http://schemas.openxmlformats.org/drawingml/2006/main">
              <a:ext uri="{FF2B5EF4-FFF2-40B4-BE49-F238E27FC236}">
                <a16:creationId xmlns:a16="http://schemas.microsoft.com/office/drawing/2014/main" id="{444E9874-EA03-4655-B475-A048546CD91A}"/>
              </a:ext>
            </a:extLst>
          </p:cNvPr>
          <p:cNvSpPr>
            <a:spLocks xmlns:a="http://schemas.openxmlformats.org/drawingml/2006/main" noGrp="1"/>
          </p:cNvSpPr>
          <p:nvPr/>
        </p:nvSpPr>
        <p:spPr>
          <a:xfrm xmlns:a="http://schemas.openxmlformats.org/drawingml/2006/main">
            <a:off x="5962650" y="2695575"/>
            <a:ext cx="55054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7302B"/>
                </a:solidFill>
                <a:latin typeface="Helvetica Neue"/>
                <a:ea typeface="Helvetica Neue"/>
                <a:cs typeface="Helvetica Neue"/>
              </a:defRPr>
            </a:pPr>
            <a:r>
              <a:rPr sz="2025" b="0">
                <a:solidFill>
                  <a:srgbClr val="17302B"/>
                </a:solidFill>
                <a:latin typeface="Helvetica Neue"/>
                <a:ea typeface="Helvetica Neue"/>
                <a:cs typeface="Helvetica Neue"/>
              </a:rPr>
              <a:t>The compiler rejects ungranted protected functions before execution.</a:t>
            </a:r>
          </a:p>
        </p:txBody>
      </p:sp>
      <p:sp>
        <p:nvSpPr>
          <p:cNvPr id="8" name="">
            <a:extLst xmlns:a="http://schemas.openxmlformats.org/drawingml/2006/main">
              <a:ext uri="{FF2B5EF4-FFF2-40B4-BE49-F238E27FC236}">
                <a16:creationId xmlns:a16="http://schemas.microsoft.com/office/drawing/2014/main" id="{7D02FD7A-151A-4CB5-A810-54BF7025F135}"/>
              </a:ext>
            </a:extLst>
          </p:cNvPr>
          <p:cNvSpPr>
            <a:spLocks xmlns:a="http://schemas.openxmlformats.org/drawingml/2006/main" noGrp="1"/>
          </p:cNvSpPr>
          <p:nvPr/>
        </p:nvSpPr>
        <p:spPr>
          <a:xfrm xmlns:a="http://schemas.openxmlformats.org/drawingml/2006/main">
            <a:off x="609600" y="369570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117C63"/>
                </a:solidFill>
                <a:latin typeface="Helvetica Neue"/>
                <a:ea typeface="Helvetica Neue"/>
                <a:cs typeface="Helvetica Neue"/>
              </a:defRPr>
            </a:pPr>
            <a:r>
              <a:rPr sz="2550" b="1">
                <a:solidFill>
                  <a:srgbClr val="117C63"/>
                </a:solidFill>
                <a:latin typeface="Helvetica Neue"/>
                <a:ea typeface="Helvetica Neue"/>
                <a:cs typeface="Helvetica Neue"/>
              </a:rPr>
              <a:t>03</a:t>
            </a:r>
          </a:p>
        </p:txBody>
      </p:sp>
      <p:sp>
        <p:nvSpPr>
          <p:cNvPr id="9" name="">
            <a:extLst xmlns:a="http://schemas.openxmlformats.org/drawingml/2006/main">
              <a:ext uri="{FF2B5EF4-FFF2-40B4-BE49-F238E27FC236}">
                <a16:creationId xmlns:a16="http://schemas.microsoft.com/office/drawing/2014/main" id="{E78D7242-CD9B-40E0-BAB6-2FA3C64E26F2}"/>
              </a:ext>
            </a:extLst>
          </p:cNvPr>
          <p:cNvSpPr>
            <a:spLocks xmlns:a="http://schemas.openxmlformats.org/drawingml/2006/main" noGrp="1"/>
          </p:cNvSpPr>
          <p:nvPr/>
        </p:nvSpPr>
        <p:spPr>
          <a:xfrm xmlns:a="http://schemas.openxmlformats.org/drawingml/2006/main">
            <a:off x="1504950" y="3695700"/>
            <a:ext cx="4191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7302B"/>
                </a:solidFill>
                <a:latin typeface="Helvetica Neue"/>
                <a:ea typeface="Helvetica Neue"/>
                <a:cs typeface="Helvetica Neue"/>
              </a:defRPr>
            </a:pPr>
            <a:r>
              <a:rPr sz="2250" b="1">
                <a:solidFill>
                  <a:srgbClr val="17302B"/>
                </a:solidFill>
                <a:latin typeface="Helvetica Neue"/>
                <a:ea typeface="Helvetica Neue"/>
                <a:cs typeface="Helvetica Neue"/>
              </a:rPr>
              <a:t>Mint proof for one call</a:t>
            </a:r>
          </a:p>
        </p:txBody>
      </p:sp>
      <p:sp>
        <p:nvSpPr>
          <p:cNvPr id="10" name="">
            <a:extLst xmlns:a="http://schemas.openxmlformats.org/drawingml/2006/main">
              <a:ext uri="{FF2B5EF4-FFF2-40B4-BE49-F238E27FC236}">
                <a16:creationId xmlns:a16="http://schemas.microsoft.com/office/drawing/2014/main" id="{4139131E-4C54-496A-A498-8307D60AB572}"/>
              </a:ext>
            </a:extLst>
          </p:cNvPr>
          <p:cNvSpPr>
            <a:spLocks xmlns:a="http://schemas.openxmlformats.org/drawingml/2006/main" noGrp="1"/>
          </p:cNvSpPr>
          <p:nvPr/>
        </p:nvSpPr>
        <p:spPr>
          <a:xfrm xmlns:a="http://schemas.openxmlformats.org/drawingml/2006/main">
            <a:off x="5962650" y="3695700"/>
            <a:ext cx="55054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7302B"/>
                </a:solidFill>
                <a:latin typeface="Helvetica Neue"/>
                <a:ea typeface="Helvetica Neue"/>
                <a:cs typeface="Helvetica Neue"/>
              </a:defRPr>
            </a:pPr>
            <a:r>
              <a:rPr sz="2025" b="0">
                <a:solidFill>
                  <a:srgbClr val="17302B"/>
                </a:solidFill>
                <a:latin typeface="Helvetica Neue"/>
                <a:ea typeface="Helvetica Neue"/>
                <a:cs typeface="Helvetica Neue"/>
              </a:rPr>
              <a:t>Policy rechecks live access and signs the operation and argument digest.</a:t>
            </a:r>
          </a:p>
        </p:txBody>
      </p:sp>
      <p:sp>
        <p:nvSpPr>
          <p:cNvPr id="11" name="">
            <a:extLst xmlns:a="http://schemas.openxmlformats.org/drawingml/2006/main">
              <a:ext uri="{FF2B5EF4-FFF2-40B4-BE49-F238E27FC236}">
                <a16:creationId xmlns:a16="http://schemas.microsoft.com/office/drawing/2014/main" id="{CE55CD08-B572-4016-BAAC-EBF090D60763}"/>
              </a:ext>
            </a:extLst>
          </p:cNvPr>
          <p:cNvSpPr>
            <a:spLocks xmlns:a="http://schemas.openxmlformats.org/drawingml/2006/main" noGrp="1"/>
          </p:cNvSpPr>
          <p:nvPr/>
        </p:nvSpPr>
        <p:spPr>
          <a:xfrm xmlns:a="http://schemas.openxmlformats.org/drawingml/2006/main">
            <a:off x="609600" y="469582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117C63"/>
                </a:solidFill>
                <a:latin typeface="Helvetica Neue"/>
                <a:ea typeface="Helvetica Neue"/>
                <a:cs typeface="Helvetica Neue"/>
              </a:defRPr>
            </a:pPr>
            <a:r>
              <a:rPr sz="2550" b="1">
                <a:solidFill>
                  <a:srgbClr val="117C63"/>
                </a:solidFill>
                <a:latin typeface="Helvetica Neue"/>
                <a:ea typeface="Helvetica Neue"/>
                <a:cs typeface="Helvetica Neue"/>
              </a:rPr>
              <a:t>04</a:t>
            </a:r>
          </a:p>
        </p:txBody>
      </p:sp>
      <p:sp>
        <p:nvSpPr>
          <p:cNvPr id="12" name="">
            <a:extLst xmlns:a="http://schemas.openxmlformats.org/drawingml/2006/main">
              <a:ext uri="{FF2B5EF4-FFF2-40B4-BE49-F238E27FC236}">
                <a16:creationId xmlns:a16="http://schemas.microsoft.com/office/drawing/2014/main" id="{DBCE0E39-8DEF-463F-ABBF-D3871AE8BE80}"/>
              </a:ext>
            </a:extLst>
          </p:cNvPr>
          <p:cNvSpPr>
            <a:spLocks xmlns:a="http://schemas.openxmlformats.org/drawingml/2006/main" noGrp="1"/>
          </p:cNvSpPr>
          <p:nvPr/>
        </p:nvSpPr>
        <p:spPr>
          <a:xfrm xmlns:a="http://schemas.openxmlformats.org/drawingml/2006/main">
            <a:off x="1504950" y="4695825"/>
            <a:ext cx="4191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7302B"/>
                </a:solidFill>
                <a:latin typeface="Helvetica Neue"/>
                <a:ea typeface="Helvetica Neue"/>
                <a:cs typeface="Helvetica Neue"/>
              </a:defRPr>
            </a:pPr>
            <a:r>
              <a:rPr sz="2250" b="1">
                <a:solidFill>
                  <a:srgbClr val="17302B"/>
                </a:solidFill>
                <a:latin typeface="Helvetica Neue"/>
                <a:ea typeface="Helvetica Neue"/>
                <a:cs typeface="Helvetica Neue"/>
              </a:rPr>
              <a:t>Execute at the broker</a:t>
            </a:r>
          </a:p>
        </p:txBody>
      </p:sp>
      <p:sp>
        <p:nvSpPr>
          <p:cNvPr id="13" name="">
            <a:extLst xmlns:a="http://schemas.openxmlformats.org/drawingml/2006/main">
              <a:ext uri="{FF2B5EF4-FFF2-40B4-BE49-F238E27FC236}">
                <a16:creationId xmlns:a16="http://schemas.microsoft.com/office/drawing/2014/main" id="{DD270EE4-20E1-4407-92BE-AF8377BFDC37}"/>
              </a:ext>
            </a:extLst>
          </p:cNvPr>
          <p:cNvSpPr>
            <a:spLocks xmlns:a="http://schemas.openxmlformats.org/drawingml/2006/main" noGrp="1"/>
          </p:cNvSpPr>
          <p:nvPr/>
        </p:nvSpPr>
        <p:spPr>
          <a:xfrm xmlns:a="http://schemas.openxmlformats.org/drawingml/2006/main">
            <a:off x="5962650" y="4695825"/>
            <a:ext cx="55054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7302B"/>
                </a:solidFill>
                <a:latin typeface="Helvetica Neue"/>
                <a:ea typeface="Helvetica Neue"/>
                <a:cs typeface="Helvetica Neue"/>
              </a:defRPr>
            </a:pPr>
            <a:r>
              <a:rPr sz="2025" b="0">
                <a:solidFill>
                  <a:srgbClr val="17302B"/>
                </a:solidFill>
                <a:latin typeface="Helvetica Neue"/>
                <a:ea typeface="Helvetica Neue"/>
                <a:cs typeface="Helvetica Neue"/>
              </a:rPr>
              <a:t>The broker verifies the proof, loads the secret and calls the provider.</a:t>
            </a:r>
          </a:p>
        </p:txBody>
      </p:sp>
      <p:sp>
        <p:nvSpPr>
          <p:cNvPr id="14" name="">
            <a:extLst xmlns:a="http://schemas.openxmlformats.org/drawingml/2006/main">
              <a:ext uri="{FF2B5EF4-FFF2-40B4-BE49-F238E27FC236}">
                <a16:creationId xmlns:a16="http://schemas.microsoft.com/office/drawing/2014/main" id="{2C561353-C2AA-4DF1-9605-1422C26A5363}"/>
              </a:ext>
            </a:extLst>
          </p:cNvPr>
          <p:cNvSpPr>
            <a:spLocks xmlns:a="http://schemas.openxmlformats.org/drawingml/2006/main" noGrp="1"/>
          </p:cNvSpPr>
          <p:nvPr/>
        </p:nvSpPr>
        <p:spPr>
          <a:xfrm xmlns:a="http://schemas.openxmlformats.org/drawingml/2006/main">
            <a:off x="1504950" y="5715000"/>
            <a:ext cx="9620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117C63"/>
                </a:solidFill>
                <a:latin typeface="Helvetica Neue"/>
                <a:ea typeface="Helvetica Neue"/>
                <a:cs typeface="Helvetica Neue"/>
              </a:defRPr>
            </a:pPr>
            <a:r>
              <a:rPr sz="1875" b="1">
                <a:solidFill>
                  <a:srgbClr val="117C63"/>
                </a:solidFill>
                <a:latin typeface="Helvetica Neue"/>
                <a:ea typeface="Helvetica Neue"/>
                <a:cs typeface="Helvetica Neue"/>
              </a:rPr>
              <a:t>Short-lived tokens limit exposure.</a:t>
            </a:r>
          </a:p>
          <a:p xmlns:a="http://schemas.openxmlformats.org/drawingml/2006/main">
            <a:pPr>
              <a:buNone/>
              <a:defRPr sz="1875" b="1">
                <a:solidFill>
                  <a:srgbClr val="117C63"/>
                </a:solidFill>
                <a:latin typeface="Helvetica Neue"/>
                <a:ea typeface="Helvetica Neue"/>
                <a:cs typeface="Helvetica Neue"/>
              </a:defRPr>
            </a:pPr>
            <a:r>
              <a:rPr sz="1875" b="1">
                <a:solidFill>
                  <a:srgbClr val="117C63"/>
                </a:solidFill>
                <a:latin typeface="Helvetica Neue"/>
                <a:ea typeface="Helvetica Neue"/>
                <a:cs typeface="Helvetica Neue"/>
              </a:rPr>
              <a:t>Each execution token expires within 60 seconds and works once.</a:t>
            </a:r>
          </a:p>
        </p:txBody>
      </p:sp>
    </p:spTree>
    <p:extLst>
      <p:ext uri="{BB962C8B-B14F-4D97-AF65-F5344CB8AC3E}">
        <p14:creationId xmlns:p14="http://schemas.microsoft.com/office/powerpoint/2010/main" val="1696819706"/>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938580-3B26-4209-8FD9-5871F47EB450}"/>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302B"/>
                </a:solidFill>
                <a:latin typeface="Helvetica Neue"/>
                <a:ea typeface="Helvetica Neue"/>
                <a:cs typeface="Helvetica Neue"/>
              </a:defRPr>
            </a:pPr>
            <a:r>
              <a:rPr sz="3300" b="1">
                <a:solidFill>
                  <a:srgbClr val="17302B"/>
                </a:solidFill>
                <a:latin typeface="Helvetica Neue"/>
                <a:ea typeface="Helvetica Neue"/>
                <a:cs typeface="Helvetica Neue"/>
              </a:rPr>
              <a:t>Why check twice?</a:t>
            </a:r>
          </a:p>
        </p:txBody>
      </p:sp>
      <p:sp>
        <p:nvSpPr>
          <p:cNvPr id="2" name="">
            <a:extLst xmlns:a="http://schemas.openxmlformats.org/drawingml/2006/main">
              <a:ext uri="{FF2B5EF4-FFF2-40B4-BE49-F238E27FC236}">
                <a16:creationId xmlns:a16="http://schemas.microsoft.com/office/drawing/2014/main" id="{29DFAB75-5757-4466-85DD-8B64CCBC77F8}"/>
              </a:ext>
            </a:extLst>
          </p:cNvPr>
          <p:cNvSpPr>
            <a:spLocks xmlns:a="http://schemas.openxmlformats.org/drawingml/2006/main" noGrp="1"/>
          </p:cNvSpPr>
          <p:nvPr/>
        </p:nvSpPr>
        <p:spPr>
          <a:xfrm xmlns:a="http://schemas.openxmlformats.org/drawingml/2006/main">
            <a:off x="609600" y="1714500"/>
            <a:ext cx="5048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117C63"/>
                </a:solidFill>
                <a:latin typeface="Helvetica Neue"/>
                <a:ea typeface="Helvetica Neue"/>
                <a:cs typeface="Helvetica Neue"/>
              </a:defRPr>
            </a:pPr>
            <a:r>
              <a:rPr sz="2550" b="1">
                <a:solidFill>
                  <a:srgbClr val="117C63"/>
                </a:solidFill>
                <a:latin typeface="Helvetica Neue"/>
                <a:ea typeface="Helvetica Neue"/>
                <a:cs typeface="Helvetica Neue"/>
              </a:rPr>
              <a:t>Before execution</a:t>
            </a:r>
          </a:p>
        </p:txBody>
      </p:sp>
      <p:sp>
        <p:nvSpPr>
          <p:cNvPr id="3" name="">
            <a:extLst xmlns:a="http://schemas.openxmlformats.org/drawingml/2006/main">
              <a:ext uri="{FF2B5EF4-FFF2-40B4-BE49-F238E27FC236}">
                <a16:creationId xmlns:a16="http://schemas.microsoft.com/office/drawing/2014/main" id="{4A7DC99C-AD89-425C-BA49-CE80A8610B83}"/>
              </a:ext>
            </a:extLst>
          </p:cNvPr>
          <p:cNvSpPr>
            <a:spLocks xmlns:a="http://schemas.openxmlformats.org/drawingml/2006/main" noGrp="1"/>
          </p:cNvSpPr>
          <p:nvPr/>
        </p:nvSpPr>
        <p:spPr>
          <a:xfrm xmlns:a="http://schemas.openxmlformats.org/drawingml/2006/main">
            <a:off x="609600" y="2428875"/>
            <a:ext cx="4905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2B"/>
                </a:solidFill>
                <a:latin typeface="Helvetica Neue"/>
                <a:ea typeface="Helvetica Neue"/>
                <a:cs typeface="Helvetica Neue"/>
              </a:defRPr>
            </a:pPr>
            <a:r>
              <a:rPr sz="2400" b="0">
                <a:solidFill>
                  <a:srgbClr val="17302B"/>
                </a:solidFill>
                <a:latin typeface="Helvetica Neue"/>
                <a:ea typeface="Helvetica Neue"/>
                <a:cs typeface="Helvetica Neue"/>
              </a:rPr>
              <a:t>Admission checks the entire program against one permission snapshot.</a:t>
            </a:r>
          </a:p>
        </p:txBody>
      </p:sp>
      <p:sp>
        <p:nvSpPr>
          <p:cNvPr id="4" name="">
            <a:extLst xmlns:a="http://schemas.openxmlformats.org/drawingml/2006/main">
              <a:ext uri="{FF2B5EF4-FFF2-40B4-BE49-F238E27FC236}">
                <a16:creationId xmlns:a16="http://schemas.microsoft.com/office/drawing/2014/main" id="{0015173B-97B8-4B8B-BFB5-5FAFAF6136AB}"/>
              </a:ext>
            </a:extLst>
          </p:cNvPr>
          <p:cNvSpPr>
            <a:spLocks xmlns:a="http://schemas.openxmlformats.org/drawingml/2006/main" noGrp="1"/>
          </p:cNvSpPr>
          <p:nvPr/>
        </p:nvSpPr>
        <p:spPr>
          <a:xfrm xmlns:a="http://schemas.openxmlformats.org/drawingml/2006/main">
            <a:off x="609600" y="4057650"/>
            <a:ext cx="49053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53645D"/>
                </a:solidFill>
                <a:latin typeface="Helvetica Neue"/>
                <a:ea typeface="Helvetica Neue"/>
                <a:cs typeface="Helvetica Neue"/>
              </a:defRPr>
            </a:pPr>
            <a:r>
              <a:rPr sz="2100" b="0">
                <a:solidFill>
                  <a:srgbClr val="53645D"/>
                </a:solidFill>
                <a:latin typeface="Helvetica Neue"/>
                <a:ea typeface="Helvetica Neue"/>
                <a:cs typeface="Helvetica Neue"/>
              </a:rPr>
              <a:t>This catches a later denied function before earlier API calls begin.</a:t>
            </a:r>
          </a:p>
        </p:txBody>
      </p:sp>
      <p:sp>
        <p:nvSpPr>
          <p:cNvPr id="5" name="">
            <a:extLst xmlns:a="http://schemas.openxmlformats.org/drawingml/2006/main">
              <a:ext uri="{FF2B5EF4-FFF2-40B4-BE49-F238E27FC236}">
                <a16:creationId xmlns:a16="http://schemas.microsoft.com/office/drawing/2014/main" id="{75587ABD-1B1D-4780-B091-45005FE49ABF}"/>
              </a:ext>
            </a:extLst>
          </p:cNvPr>
          <p:cNvSpPr>
            <a:spLocks xmlns:a="http://schemas.openxmlformats.org/drawingml/2006/main" noGrp="1"/>
          </p:cNvSpPr>
          <p:nvPr/>
        </p:nvSpPr>
        <p:spPr>
          <a:xfrm xmlns:a="http://schemas.openxmlformats.org/drawingml/2006/main">
            <a:off x="6477000" y="1714500"/>
            <a:ext cx="5048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117C63"/>
                </a:solidFill>
                <a:latin typeface="Helvetica Neue"/>
                <a:ea typeface="Helvetica Neue"/>
                <a:cs typeface="Helvetica Neue"/>
              </a:defRPr>
            </a:pPr>
            <a:r>
              <a:rPr sz="2550" b="1">
                <a:solidFill>
                  <a:srgbClr val="117C63"/>
                </a:solidFill>
                <a:latin typeface="Helvetica Neue"/>
                <a:ea typeface="Helvetica Neue"/>
                <a:cs typeface="Helvetica Neue"/>
              </a:rPr>
              <a:t>At each protected call</a:t>
            </a:r>
          </a:p>
        </p:txBody>
      </p:sp>
      <p:sp>
        <p:nvSpPr>
          <p:cNvPr id="6" name="">
            <a:extLst xmlns:a="http://schemas.openxmlformats.org/drawingml/2006/main">
              <a:ext uri="{FF2B5EF4-FFF2-40B4-BE49-F238E27FC236}">
                <a16:creationId xmlns:a16="http://schemas.microsoft.com/office/drawing/2014/main" id="{D4430558-4513-4387-AD5C-93540C0C27E7}"/>
              </a:ext>
            </a:extLst>
          </p:cNvPr>
          <p:cNvSpPr>
            <a:spLocks xmlns:a="http://schemas.openxmlformats.org/drawingml/2006/main" noGrp="1"/>
          </p:cNvSpPr>
          <p:nvPr/>
        </p:nvSpPr>
        <p:spPr>
          <a:xfrm xmlns:a="http://schemas.openxmlformats.org/drawingml/2006/main">
            <a:off x="6477000" y="2428875"/>
            <a:ext cx="4953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2B"/>
                </a:solidFill>
                <a:latin typeface="Helvetica Neue"/>
                <a:ea typeface="Helvetica Neue"/>
                <a:cs typeface="Helvetica Neue"/>
              </a:defRPr>
            </a:pPr>
            <a:r>
              <a:rPr sz="2400" b="0">
                <a:solidFill>
                  <a:srgbClr val="17302B"/>
                </a:solidFill>
                <a:latin typeface="Helvetica Neue"/>
                <a:ea typeface="Helvetica Neue"/>
                <a:cs typeface="Helvetica Neue"/>
              </a:rPr>
              <a:t>Policy checks live access. The broker checks the exact operation and payload.</a:t>
            </a:r>
          </a:p>
        </p:txBody>
      </p:sp>
      <p:sp>
        <p:nvSpPr>
          <p:cNvPr id="7" name="">
            <a:extLst xmlns:a="http://schemas.openxmlformats.org/drawingml/2006/main">
              <a:ext uri="{FF2B5EF4-FFF2-40B4-BE49-F238E27FC236}">
                <a16:creationId xmlns:a16="http://schemas.microsoft.com/office/drawing/2014/main" id="{4DE99A59-4DCF-40D9-9750-4FD68FCC6CA8}"/>
              </a:ext>
            </a:extLst>
          </p:cNvPr>
          <p:cNvSpPr>
            <a:spLocks xmlns:a="http://schemas.openxmlformats.org/drawingml/2006/main" noGrp="1"/>
          </p:cNvSpPr>
          <p:nvPr/>
        </p:nvSpPr>
        <p:spPr>
          <a:xfrm xmlns:a="http://schemas.openxmlformats.org/drawingml/2006/main">
            <a:off x="6477000" y="4057650"/>
            <a:ext cx="4953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53645D"/>
                </a:solidFill>
                <a:latin typeface="Helvetica Neue"/>
                <a:ea typeface="Helvetica Neue"/>
                <a:cs typeface="Helvetica Neue"/>
              </a:defRPr>
            </a:pPr>
            <a:r>
              <a:rPr sz="2100" b="0">
                <a:solidFill>
                  <a:srgbClr val="53645D"/>
                </a:solidFill>
                <a:latin typeface="Helvetica Neue"/>
                <a:ea typeface="Helvetica Neue"/>
                <a:cs typeface="Helvetica Neue"/>
              </a:rPr>
              <a:t>This limits stale permissions and prevents a token from authorizing different arguments.</a:t>
            </a:r>
          </a:p>
        </p:txBody>
      </p:sp>
    </p:spTree>
    <p:extLst>
      <p:ext uri="{BB962C8B-B14F-4D97-AF65-F5344CB8AC3E}">
        <p14:creationId xmlns:p14="http://schemas.microsoft.com/office/powerpoint/2010/main" val="293737865"/>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9A2900D-F1BC-49A9-9A45-156E46C66C02}"/>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302B"/>
                </a:solidFill>
                <a:latin typeface="Helvetica Neue"/>
                <a:ea typeface="Helvetica Neue"/>
                <a:cs typeface="Helvetica Neue"/>
              </a:defRPr>
            </a:pPr>
            <a:r>
              <a:rPr sz="3300" b="1">
                <a:solidFill>
                  <a:srgbClr val="17302B"/>
                </a:solidFill>
                <a:latin typeface="Helvetica Neue"/>
                <a:ea typeface="Helvetica Neue"/>
                <a:cs typeface="Helvetica Neue"/>
              </a:rPr>
              <a:t>Example: share a save function</a:t>
            </a:r>
          </a:p>
        </p:txBody>
      </p:sp>
      <p:sp>
        <p:nvSpPr>
          <p:cNvPr id="2" name="">
            <a:extLst xmlns:a="http://schemas.openxmlformats.org/drawingml/2006/main">
              <a:ext uri="{FF2B5EF4-FFF2-40B4-BE49-F238E27FC236}">
                <a16:creationId xmlns:a16="http://schemas.microsoft.com/office/drawing/2014/main" id="{1CFE5ACA-2C6B-4A75-AC47-8F7918DB2854}"/>
              </a:ext>
            </a:extLst>
          </p:cNvPr>
          <p:cNvSpPr>
            <a:spLocks xmlns:a="http://schemas.openxmlformats.org/drawingml/2006/main" noGrp="1"/>
          </p:cNvSpPr>
          <p:nvPr/>
        </p:nvSpPr>
        <p:spPr>
          <a:xfrm xmlns:a="http://schemas.openxmlformats.org/drawingml/2006/main">
            <a:off x="609600" y="1619250"/>
            <a:ext cx="10572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700" b="1">
                <a:solidFill>
                  <a:srgbClr val="17302B"/>
                </a:solidFill>
                <a:latin typeface="Helvetica Neue"/>
                <a:ea typeface="Helvetica Neue"/>
                <a:cs typeface="Helvetica Neue"/>
              </a:defRPr>
            </a:pPr>
            <a:r>
              <a:rPr sz="2700" b="1">
                <a:solidFill>
                  <a:srgbClr val="17302B"/>
                </a:solidFill>
                <a:latin typeface="Helvetica Neue"/>
                <a:ea typeface="Helvetica Neue"/>
                <a:cs typeface="Helvetica Neue"/>
              </a:rPr>
              <a:t>Alice shares her connection with Bob to use</a:t>
            </a:r>
          </a:p>
          <a:p xmlns:a="http://schemas.openxmlformats.org/drawingml/2006/main">
            <a:pPr>
              <a:buNone/>
              <a:defRPr sz="2700" b="1">
                <a:solidFill>
                  <a:srgbClr val="17302B"/>
                </a:solidFill>
                <a:latin typeface="Helvetica Neue"/>
                <a:ea typeface="Helvetica Neue"/>
                <a:cs typeface="Helvetica Neue"/>
              </a:defRPr>
            </a:pPr>
            <a:r>
              <a:rPr sz="2700" b="1">
                <a:solidFill>
                  <a:srgbClr val="17302B"/>
                </a:solidFill>
                <a:latin typeface="Helvetica Neue"/>
                <a:ea typeface="Helvetica Neue"/>
                <a:cs typeface="Helvetica Neue"/>
              </a:rPr>
              <a:t>save-to-itembank in L0176 (Learnosity item agent).</a:t>
            </a:r>
          </a:p>
        </p:txBody>
      </p:sp>
      <p:sp>
        <p:nvSpPr>
          <p:cNvPr id="3" name="">
            <a:extLst xmlns:a="http://schemas.openxmlformats.org/drawingml/2006/main">
              <a:ext uri="{FF2B5EF4-FFF2-40B4-BE49-F238E27FC236}">
                <a16:creationId xmlns:a16="http://schemas.microsoft.com/office/drawing/2014/main" id="{B95B11CE-CCC5-469D-B59A-A63117807F16}"/>
              </a:ext>
            </a:extLst>
          </p:cNvPr>
          <p:cNvSpPr>
            <a:spLocks xmlns:a="http://schemas.openxmlformats.org/drawingml/2006/main" noGrp="1"/>
          </p:cNvSpPr>
          <p:nvPr/>
        </p:nvSpPr>
        <p:spPr>
          <a:xfrm xmlns:a="http://schemas.openxmlformats.org/drawingml/2006/main">
            <a:off x="609600" y="3267075"/>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17C63"/>
                </a:solidFill>
                <a:latin typeface="Helvetica Neue"/>
                <a:ea typeface="Helvetica Neue"/>
                <a:cs typeface="Helvetica Neue"/>
              </a:defRPr>
            </a:pPr>
            <a:r>
              <a:rPr sz="2250" b="1">
                <a:solidFill>
                  <a:srgbClr val="117C63"/>
                </a:solidFill>
                <a:latin typeface="Helvetica Neue"/>
                <a:ea typeface="Helvetica Neue"/>
                <a:cs typeface="Helvetica Neue"/>
              </a:rPr>
              <a:t>Bob can</a:t>
            </a:r>
          </a:p>
        </p:txBody>
      </p:sp>
      <p:sp>
        <p:nvSpPr>
          <p:cNvPr id="4" name="">
            <a:extLst xmlns:a="http://schemas.openxmlformats.org/drawingml/2006/main">
              <a:ext uri="{FF2B5EF4-FFF2-40B4-BE49-F238E27FC236}">
                <a16:creationId xmlns:a16="http://schemas.microsoft.com/office/drawing/2014/main" id="{13BEB447-7829-4A7D-A29C-23DD4D5F1C01}"/>
              </a:ext>
            </a:extLst>
          </p:cNvPr>
          <p:cNvSpPr>
            <a:spLocks xmlns:a="http://schemas.openxmlformats.org/drawingml/2006/main" noGrp="1"/>
          </p:cNvSpPr>
          <p:nvPr/>
        </p:nvSpPr>
        <p:spPr>
          <a:xfrm xmlns:a="http://schemas.openxmlformats.org/drawingml/2006/main">
            <a:off x="609600" y="3895725"/>
            <a:ext cx="48101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7302B"/>
                </a:solidFill>
                <a:latin typeface="Helvetica Neue"/>
                <a:ea typeface="Helvetica Neue"/>
                <a:cs typeface="Helvetica Neue"/>
              </a:defRPr>
            </a:pPr>
            <a:r>
              <a:rPr sz="2100" b="0">
                <a:solidFill>
                  <a:srgbClr val="17302B"/>
                </a:solidFill>
                <a:latin typeface="Helvetica Neue"/>
                <a:ea typeface="Helvetica Neue"/>
                <a:cs typeface="Helvetica Neue"/>
              </a:rPr>
              <a:t>Run that save through Alice’s connection.</a:t>
            </a:r>
          </a:p>
          <a:p xmlns:a="http://schemas.openxmlformats.org/drawingml/2006/main">
            <a:r>
              <a:t/>
            </a:r>
          </a:p>
          <a:p xmlns:a="http://schemas.openxmlformats.org/drawingml/2006/main">
            <a:pPr>
              <a:buNone/>
              <a:defRPr sz="2100" b="0">
                <a:solidFill>
                  <a:srgbClr val="17302B"/>
                </a:solidFill>
                <a:latin typeface="Helvetica Neue"/>
                <a:ea typeface="Helvetica Neue"/>
                <a:cs typeface="Helvetica Neue"/>
              </a:defRPr>
            </a:pPr>
            <a:r>
              <a:rPr sz="2100" b="0">
                <a:solidFill>
                  <a:srgbClr val="17302B"/>
                </a:solidFill>
                <a:latin typeface="Helvetica Neue"/>
                <a:ea typeface="Helvetica Neue"/>
                <a:cs typeface="Helvetica Neue"/>
              </a:rPr>
              <a:t>Use the implicit preview signing needed to render the result.</a:t>
            </a:r>
          </a:p>
        </p:txBody>
      </p:sp>
      <p:sp>
        <p:nvSpPr>
          <p:cNvPr id="5" name="">
            <a:extLst xmlns:a="http://schemas.openxmlformats.org/drawingml/2006/main">
              <a:ext uri="{FF2B5EF4-FFF2-40B4-BE49-F238E27FC236}">
                <a16:creationId xmlns:a16="http://schemas.microsoft.com/office/drawing/2014/main" id="{2ADB803E-A7B2-4816-AF31-FA022F60B436}"/>
              </a:ext>
            </a:extLst>
          </p:cNvPr>
          <p:cNvSpPr>
            <a:spLocks xmlns:a="http://schemas.openxmlformats.org/drawingml/2006/main" noGrp="1"/>
          </p:cNvSpPr>
          <p:nvPr/>
        </p:nvSpPr>
        <p:spPr>
          <a:xfrm xmlns:a="http://schemas.openxmlformats.org/drawingml/2006/main">
            <a:off x="6477000" y="326707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17C63"/>
                </a:solidFill>
                <a:latin typeface="Helvetica Neue"/>
                <a:ea typeface="Helvetica Neue"/>
                <a:cs typeface="Helvetica Neue"/>
              </a:defRPr>
            </a:pPr>
            <a:r>
              <a:rPr sz="2250" b="1">
                <a:solidFill>
                  <a:srgbClr val="117C63"/>
                </a:solidFill>
                <a:latin typeface="Helvetica Neue"/>
                <a:ea typeface="Helvetica Neue"/>
                <a:cs typeface="Helvetica Neue"/>
              </a:rPr>
              <a:t>The grant does not include</a:t>
            </a:r>
          </a:p>
        </p:txBody>
      </p:sp>
      <p:sp>
        <p:nvSpPr>
          <p:cNvPr id="6" name="">
            <a:extLst xmlns:a="http://schemas.openxmlformats.org/drawingml/2006/main">
              <a:ext uri="{FF2B5EF4-FFF2-40B4-BE49-F238E27FC236}">
                <a16:creationId xmlns:a16="http://schemas.microsoft.com/office/drawing/2014/main" id="{EC5242EB-578E-4C0D-98CD-2A9BAA8570D2}"/>
              </a:ext>
            </a:extLst>
          </p:cNvPr>
          <p:cNvSpPr>
            <a:spLocks xmlns:a="http://schemas.openxmlformats.org/drawingml/2006/main" noGrp="1"/>
          </p:cNvSpPr>
          <p:nvPr/>
        </p:nvSpPr>
        <p:spPr>
          <a:xfrm xmlns:a="http://schemas.openxmlformats.org/drawingml/2006/main">
            <a:off x="6477000" y="3895725"/>
            <a:ext cx="495300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7302B"/>
                </a:solidFill>
                <a:latin typeface="Helvetica Neue"/>
                <a:ea typeface="Helvetica Neue"/>
                <a:cs typeface="Helvetica Neue"/>
              </a:defRPr>
            </a:pPr>
            <a:r>
              <a:rPr sz="2100" b="0">
                <a:solidFill>
                  <a:srgbClr val="17302B"/>
                </a:solidFill>
                <a:latin typeface="Helvetica Neue"/>
                <a:ea typeface="Helvetica Neue"/>
                <a:cs typeface="Helvetica Neue"/>
              </a:rPr>
              <a:t>Resharing or publishing.</a:t>
            </a:r>
          </a:p>
          <a:p xmlns:a="http://schemas.openxmlformats.org/drawingml/2006/main">
            <a:r>
              <a:t/>
            </a:r>
          </a:p>
          <a:p xmlns:a="http://schemas.openxmlformats.org/drawingml/2006/main">
            <a:pPr>
              <a:buNone/>
              <a:defRPr sz="2100" b="0">
                <a:solidFill>
                  <a:srgbClr val="17302B"/>
                </a:solidFill>
                <a:latin typeface="Helvetica Neue"/>
                <a:ea typeface="Helvetica Neue"/>
                <a:cs typeface="Helvetica Neue"/>
              </a:defRPr>
            </a:pPr>
            <a:r>
              <a:rPr sz="2100" b="0">
                <a:solidFill>
                  <a:srgbClr val="17302B"/>
                </a:solidFill>
                <a:latin typeface="Helvetica Neue"/>
                <a:ea typeface="Helvetica Neue"/>
                <a:cs typeface="Helvetica Neue"/>
              </a:rPr>
              <a:t>Author editing/deletion sessions.</a:t>
            </a:r>
          </a:p>
          <a:p xmlns:a="http://schemas.openxmlformats.org/drawingml/2006/main">
            <a:r>
              <a:t/>
            </a:r>
          </a:p>
          <a:p xmlns:a="http://schemas.openxmlformats.org/drawingml/2006/main">
            <a:pPr>
              <a:buNone/>
              <a:defRPr sz="2100" b="0">
                <a:solidFill>
                  <a:srgbClr val="17302B"/>
                </a:solidFill>
                <a:latin typeface="Helvetica Neue"/>
                <a:ea typeface="Helvetica Neue"/>
                <a:cs typeface="Helvetica Neue"/>
              </a:defRPr>
            </a:pPr>
            <a:r>
              <a:rPr sz="2100" b="0">
                <a:solidFill>
                  <a:srgbClr val="17302B"/>
                </a:solidFill>
                <a:latin typeface="Helvetica Neue"/>
                <a:ea typeface="Helvetica Neue"/>
                <a:cs typeface="Helvetica Neue"/>
              </a:rPr>
              <a:t>A different language’s save function.</a:t>
            </a:r>
          </a:p>
        </p:txBody>
      </p:sp>
      <p:sp>
        <p:nvSpPr>
          <p:cNvPr id="7" name="">
            <a:extLst xmlns:a="http://schemas.openxmlformats.org/drawingml/2006/main">
              <a:ext uri="{FF2B5EF4-FFF2-40B4-BE49-F238E27FC236}">
                <a16:creationId xmlns:a16="http://schemas.microsoft.com/office/drawing/2014/main" id="{1E788416-B98A-48C5-AFBA-95CE4388A237}"/>
              </a:ext>
            </a:extLst>
          </p:cNvPr>
          <p:cNvSpPr>
            <a:spLocks xmlns:a="http://schemas.openxmlformats.org/drawingml/2006/main" noGrp="1"/>
          </p:cNvSpPr>
          <p:nvPr/>
        </p:nvSpPr>
        <p:spPr>
          <a:xfrm xmlns:a="http://schemas.openxmlformats.org/drawingml/2006/main">
            <a:off x="609600" y="60007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53645D"/>
                </a:solidFill>
                <a:latin typeface="Helvetica Neue"/>
                <a:ea typeface="Helvetica Neue"/>
                <a:cs typeface="Helvetica Neue"/>
              </a:defRPr>
            </a:pPr>
            <a:r>
              <a:rPr sz="1650" b="0">
                <a:solidFill>
                  <a:srgbClr val="53645D"/>
                </a:solidFill>
                <a:latin typeface="Helvetica Neue"/>
                <a:ea typeface="Helvetica Neue"/>
                <a:cs typeface="Helvetica Neue"/>
              </a:rPr>
              <a:t>Current scope is a function on a connection. Grants do not yet restrict individual items.</a:t>
            </a:r>
          </a:p>
        </p:txBody>
      </p:sp>
    </p:spTree>
    <p:extLst>
      <p:ext uri="{BB962C8B-B14F-4D97-AF65-F5344CB8AC3E}">
        <p14:creationId xmlns:p14="http://schemas.microsoft.com/office/powerpoint/2010/main" val="634250658"/>
      </p:ext>
    </p:extLst>
  </p:cSld>
</p:sld>
</file>

<file path=ppt/slides/slide6.xml><?xml version="1.0" encoding="utf-8"?>
<p:sld xmlns:p="http://schemas.openxmlformats.org/presentationml/2006/main">
  <p:cSld>
    <p:bg>
      <p:bgPr>
        <a:solidFill xmlns:a="http://schemas.openxmlformats.org/drawingml/2006/main">
          <a:srgbClr val="17302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244244D-C790-4EAC-AFAB-41F2A9959AD0}"/>
              </a:ext>
            </a:extLst>
          </p:cNvPr>
          <p:cNvSpPr>
            <a:spLocks xmlns:a="http://schemas.openxmlformats.org/drawingml/2006/main" noGrp="1"/>
          </p:cNvSpPr>
          <p:nvPr/>
        </p:nvSpPr>
        <p:spPr>
          <a:xfrm xmlns:a="http://schemas.openxmlformats.org/drawingml/2006/main">
            <a:off x="609600" y="45720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Graffiticode security model</a:t>
            </a:r>
          </a:p>
        </p:txBody>
      </p:sp>
      <p:sp>
        <p:nvSpPr>
          <p:cNvPr id="2" name="">
            <a:extLst xmlns:a="http://schemas.openxmlformats.org/drawingml/2006/main">
              <a:ext uri="{FF2B5EF4-FFF2-40B4-BE49-F238E27FC236}">
                <a16:creationId xmlns:a16="http://schemas.microsoft.com/office/drawing/2014/main" id="{566A572B-4C54-4D7C-BD03-B86A5C750AED}"/>
              </a:ext>
            </a:extLst>
          </p:cNvPr>
          <p:cNvSpPr>
            <a:spLocks xmlns:a="http://schemas.openxmlformats.org/drawingml/2006/main" noGrp="1"/>
          </p:cNvSpPr>
          <p:nvPr/>
        </p:nvSpPr>
        <p:spPr>
          <a:xfrm xmlns:a="http://schemas.openxmlformats.org/drawingml/2006/main">
            <a:off x="609600" y="1314450"/>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A7E1C7"/>
                </a:solidFill>
                <a:latin typeface="Helvetica Neue"/>
                <a:ea typeface="Helvetica Neue"/>
                <a:cs typeface="Helvetica Neue"/>
              </a:defRPr>
            </a:pPr>
            <a:r>
              <a:rPr sz="2250" b="0">
                <a:solidFill>
                  <a:srgbClr val="A7E1C7"/>
                </a:solidFill>
                <a:latin typeface="Helvetica Neue"/>
                <a:ea typeface="Helvetica Neue"/>
                <a:cs typeface="Helvetica Neue"/>
              </a:rPr>
              <a:t>Owners control access. Policy scopes authority. The broker enforces it.</a:t>
            </a:r>
          </a:p>
        </p:txBody>
      </p:sp>
      <p:sp>
        <p:nvSpPr>
          <p:cNvPr id="3" name="">
            <a:extLst xmlns:a="http://schemas.openxmlformats.org/drawingml/2006/main">
              <a:ext uri="{FF2B5EF4-FFF2-40B4-BE49-F238E27FC236}">
                <a16:creationId xmlns:a16="http://schemas.microsoft.com/office/drawing/2014/main" id="{2577E99A-9FBC-4E85-9337-059992D0DABE}"/>
              </a:ext>
            </a:extLst>
          </p:cNvPr>
          <p:cNvSpPr>
            <a:spLocks xmlns:a="http://schemas.openxmlformats.org/drawingml/2006/main" noGrp="1"/>
          </p:cNvSpPr>
          <p:nvPr/>
        </p:nvSpPr>
        <p:spPr>
          <a:xfrm xmlns:a="http://schemas.openxmlformats.org/drawingml/2006/main">
            <a:off x="3429000" y="2143125"/>
            <a:ext cx="2428875" cy="742950"/>
          </a:xfrm>
          <a:prstGeom xmlns:a="http://schemas.openxmlformats.org/drawingml/2006/main" prst="rect">
            <a:avLst/>
          </a:prstGeom>
          <a:solidFill xmlns:a="http://schemas.openxmlformats.org/drawingml/2006/main">
            <a:srgbClr val="234A40"/>
          </a:solidFill>
          <a:ln xmlns:a="http://schemas.openxmlformats.org/drawingml/2006/main" w="14288">
            <a:solidFill>
              <a:srgbClr val="A7E1C7"/>
            </a:solidFill>
          </a:ln>
        </p:spPr>
      </p:sp>
      <p:sp>
        <p:nvSpPr>
          <p:cNvPr id="4" name="">
            <a:extLst xmlns:a="http://schemas.openxmlformats.org/drawingml/2006/main">
              <a:ext uri="{FF2B5EF4-FFF2-40B4-BE49-F238E27FC236}">
                <a16:creationId xmlns:a16="http://schemas.microsoft.com/office/drawing/2014/main" id="{30266555-B38A-42E0-897F-3248B8D7CA7E}"/>
              </a:ext>
            </a:extLst>
          </p:cNvPr>
          <p:cNvSpPr>
            <a:spLocks xmlns:a="http://schemas.openxmlformats.org/drawingml/2006/main" noGrp="1"/>
          </p:cNvSpPr>
          <p:nvPr/>
        </p:nvSpPr>
        <p:spPr>
          <a:xfrm xmlns:a="http://schemas.openxmlformats.org/drawingml/2006/main">
            <a:off x="3571875" y="2314575"/>
            <a:ext cx="2143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FFFFFF"/>
                </a:solidFill>
                <a:latin typeface="Helvetica Neue"/>
                <a:ea typeface="Helvetica Neue"/>
                <a:cs typeface="Helvetica Neue"/>
              </a:defRPr>
            </a:pPr>
            <a:r>
              <a:rPr sz="2100" b="1">
                <a:solidFill>
                  <a:srgbClr val="FFFFFF"/>
                </a:solidFill>
                <a:latin typeface="Helvetica Neue"/>
                <a:ea typeface="Helvetica Neue"/>
                <a:cs typeface="Helvetica Neue"/>
              </a:rPr>
              <a:t>Owner</a:t>
            </a:r>
          </a:p>
        </p:txBody>
      </p:sp>
      <p:sp>
        <p:nvSpPr>
          <p:cNvPr id="5" name="">
            <a:extLst xmlns:a="http://schemas.openxmlformats.org/drawingml/2006/main">
              <a:ext uri="{FF2B5EF4-FFF2-40B4-BE49-F238E27FC236}">
                <a16:creationId xmlns:a16="http://schemas.microsoft.com/office/drawing/2014/main" id="{43AB222B-08AB-429A-B519-19760F68692B}"/>
              </a:ext>
            </a:extLst>
          </p:cNvPr>
          <p:cNvSpPr>
            <a:spLocks xmlns:a="http://schemas.openxmlformats.org/drawingml/2006/main" noGrp="1"/>
          </p:cNvSpPr>
          <p:nvPr/>
        </p:nvSpPr>
        <p:spPr>
          <a:xfrm xmlns:a="http://schemas.openxmlformats.org/drawingml/2006/main">
            <a:off x="609600" y="3638550"/>
            <a:ext cx="2190750" cy="952500"/>
          </a:xfrm>
          <a:prstGeom xmlns:a="http://schemas.openxmlformats.org/drawingml/2006/main" prst="rect">
            <a:avLst/>
          </a:prstGeom>
          <a:solidFill xmlns:a="http://schemas.openxmlformats.org/drawingml/2006/main">
            <a:srgbClr val="234A40"/>
          </a:solidFill>
          <a:ln xmlns:a="http://schemas.openxmlformats.org/drawingml/2006/main" w="14288">
            <a:solidFill>
              <a:srgbClr val="A7E1C7"/>
            </a:solidFill>
          </a:ln>
        </p:spPr>
      </p:sp>
      <p:sp>
        <p:nvSpPr>
          <p:cNvPr id="6" name="">
            <a:extLst xmlns:a="http://schemas.openxmlformats.org/drawingml/2006/main">
              <a:ext uri="{FF2B5EF4-FFF2-40B4-BE49-F238E27FC236}">
                <a16:creationId xmlns:a16="http://schemas.microsoft.com/office/drawing/2014/main" id="{78976200-8D36-4E6C-AF75-9C71AD891E8F}"/>
              </a:ext>
            </a:extLst>
          </p:cNvPr>
          <p:cNvSpPr>
            <a:spLocks xmlns:a="http://schemas.openxmlformats.org/drawingml/2006/main" noGrp="1"/>
          </p:cNvSpPr>
          <p:nvPr/>
        </p:nvSpPr>
        <p:spPr>
          <a:xfrm xmlns:a="http://schemas.openxmlformats.org/drawingml/2006/main">
            <a:off x="752475" y="3810000"/>
            <a:ext cx="1905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FFFFFF"/>
                </a:solidFill>
                <a:latin typeface="Helvetica Neue"/>
                <a:ea typeface="Helvetica Neue"/>
                <a:cs typeface="Helvetica Neue"/>
              </a:defRPr>
            </a:pPr>
            <a:r>
              <a:rPr sz="2100" b="1">
                <a:solidFill>
                  <a:srgbClr val="FFFFFF"/>
                </a:solidFill>
                <a:latin typeface="Helvetica Neue"/>
                <a:ea typeface="Helvetica Neue"/>
                <a:cs typeface="Helvetica Neue"/>
              </a:rPr>
              <a:t>Compiler</a:t>
            </a:r>
          </a:p>
        </p:txBody>
      </p:sp>
      <p:sp>
        <p:nvSpPr>
          <p:cNvPr id="7" name="">
            <a:extLst xmlns:a="http://schemas.openxmlformats.org/drawingml/2006/main">
              <a:ext uri="{FF2B5EF4-FFF2-40B4-BE49-F238E27FC236}">
                <a16:creationId xmlns:a16="http://schemas.microsoft.com/office/drawing/2014/main" id="{38C6D57A-48AE-40D5-8C84-21921DECEEF5}"/>
              </a:ext>
            </a:extLst>
          </p:cNvPr>
          <p:cNvSpPr>
            <a:spLocks xmlns:a="http://schemas.openxmlformats.org/drawingml/2006/main" noGrp="1"/>
          </p:cNvSpPr>
          <p:nvPr/>
        </p:nvSpPr>
        <p:spPr>
          <a:xfrm xmlns:a="http://schemas.openxmlformats.org/drawingml/2006/main">
            <a:off x="3429000" y="3638550"/>
            <a:ext cx="2428875" cy="952500"/>
          </a:xfrm>
          <a:prstGeom xmlns:a="http://schemas.openxmlformats.org/drawingml/2006/main" prst="rect">
            <a:avLst/>
          </a:prstGeom>
          <a:solidFill xmlns:a="http://schemas.openxmlformats.org/drawingml/2006/main">
            <a:srgbClr val="234A40"/>
          </a:solidFill>
          <a:ln xmlns:a="http://schemas.openxmlformats.org/drawingml/2006/main" w="14288">
            <a:solidFill>
              <a:srgbClr val="A7E1C7"/>
            </a:solidFill>
          </a:ln>
        </p:spPr>
      </p:sp>
      <p:sp>
        <p:nvSpPr>
          <p:cNvPr id="8" name="">
            <a:extLst xmlns:a="http://schemas.openxmlformats.org/drawingml/2006/main">
              <a:ext uri="{FF2B5EF4-FFF2-40B4-BE49-F238E27FC236}">
                <a16:creationId xmlns:a16="http://schemas.microsoft.com/office/drawing/2014/main" id="{23D669DB-0972-476E-9302-4FCE9B65C2D0}"/>
              </a:ext>
            </a:extLst>
          </p:cNvPr>
          <p:cNvSpPr>
            <a:spLocks xmlns:a="http://schemas.openxmlformats.org/drawingml/2006/main" noGrp="1"/>
          </p:cNvSpPr>
          <p:nvPr/>
        </p:nvSpPr>
        <p:spPr>
          <a:xfrm xmlns:a="http://schemas.openxmlformats.org/drawingml/2006/main">
            <a:off x="3571875" y="3810000"/>
            <a:ext cx="21431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FFFFFF"/>
                </a:solidFill>
                <a:latin typeface="Helvetica Neue"/>
                <a:ea typeface="Helvetica Neue"/>
                <a:cs typeface="Helvetica Neue"/>
              </a:defRPr>
            </a:pPr>
            <a:r>
              <a:rPr sz="2100" b="1">
                <a:solidFill>
                  <a:srgbClr val="FFFFFF"/>
                </a:solidFill>
                <a:latin typeface="Helvetica Neue"/>
                <a:ea typeface="Helvetica Neue"/>
                <a:cs typeface="Helvetica Neue"/>
              </a:rPr>
              <a:t>Policy</a:t>
            </a:r>
          </a:p>
        </p:txBody>
      </p:sp>
      <p:sp>
        <p:nvSpPr>
          <p:cNvPr id="9" name="">
            <a:extLst xmlns:a="http://schemas.openxmlformats.org/drawingml/2006/main">
              <a:ext uri="{FF2B5EF4-FFF2-40B4-BE49-F238E27FC236}">
                <a16:creationId xmlns:a16="http://schemas.microsoft.com/office/drawing/2014/main" id="{3B970CFF-4FF3-44DC-B0A6-2F607691C646}"/>
              </a:ext>
            </a:extLst>
          </p:cNvPr>
          <p:cNvSpPr>
            <a:spLocks xmlns:a="http://schemas.openxmlformats.org/drawingml/2006/main" noGrp="1"/>
          </p:cNvSpPr>
          <p:nvPr/>
        </p:nvSpPr>
        <p:spPr>
          <a:xfrm xmlns:a="http://schemas.openxmlformats.org/drawingml/2006/main">
            <a:off x="6486525" y="3638550"/>
            <a:ext cx="2190750" cy="952500"/>
          </a:xfrm>
          <a:prstGeom xmlns:a="http://schemas.openxmlformats.org/drawingml/2006/main" prst="rect">
            <a:avLst/>
          </a:prstGeom>
          <a:solidFill xmlns:a="http://schemas.openxmlformats.org/drawingml/2006/main">
            <a:srgbClr val="234A40"/>
          </a:solidFill>
          <a:ln xmlns:a="http://schemas.openxmlformats.org/drawingml/2006/main" w="14288">
            <a:solidFill>
              <a:srgbClr val="A7E1C7"/>
            </a:solidFill>
          </a:ln>
        </p:spPr>
      </p:sp>
      <p:sp>
        <p:nvSpPr>
          <p:cNvPr id="10" name="">
            <a:extLst xmlns:a="http://schemas.openxmlformats.org/drawingml/2006/main">
              <a:ext uri="{FF2B5EF4-FFF2-40B4-BE49-F238E27FC236}">
                <a16:creationId xmlns:a16="http://schemas.microsoft.com/office/drawing/2014/main" id="{0076259D-FEAE-4C35-9A3E-B5CDD9F94A0B}"/>
              </a:ext>
            </a:extLst>
          </p:cNvPr>
          <p:cNvSpPr>
            <a:spLocks xmlns:a="http://schemas.openxmlformats.org/drawingml/2006/main" noGrp="1"/>
          </p:cNvSpPr>
          <p:nvPr/>
        </p:nvSpPr>
        <p:spPr>
          <a:xfrm xmlns:a="http://schemas.openxmlformats.org/drawingml/2006/main">
            <a:off x="6629400" y="3810000"/>
            <a:ext cx="1905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FFFFFF"/>
                </a:solidFill>
                <a:latin typeface="Helvetica Neue"/>
                <a:ea typeface="Helvetica Neue"/>
                <a:cs typeface="Helvetica Neue"/>
              </a:defRPr>
            </a:pPr>
            <a:r>
              <a:rPr sz="2100" b="1">
                <a:solidFill>
                  <a:srgbClr val="FFFFFF"/>
                </a:solidFill>
                <a:latin typeface="Helvetica Neue"/>
                <a:ea typeface="Helvetica Neue"/>
                <a:cs typeface="Helvetica Neue"/>
              </a:rPr>
              <a:t>Broker</a:t>
            </a:r>
          </a:p>
        </p:txBody>
      </p:sp>
      <p:sp>
        <p:nvSpPr>
          <p:cNvPr id="11" name="">
            <a:extLst xmlns:a="http://schemas.openxmlformats.org/drawingml/2006/main">
              <a:ext uri="{FF2B5EF4-FFF2-40B4-BE49-F238E27FC236}">
                <a16:creationId xmlns:a16="http://schemas.microsoft.com/office/drawing/2014/main" id="{D1B9989F-2A1A-4D4F-AE2A-CCDB8C7F92CF}"/>
              </a:ext>
            </a:extLst>
          </p:cNvPr>
          <p:cNvSpPr>
            <a:spLocks xmlns:a="http://schemas.openxmlformats.org/drawingml/2006/main" noGrp="1"/>
          </p:cNvSpPr>
          <p:nvPr/>
        </p:nvSpPr>
        <p:spPr>
          <a:xfrm xmlns:a="http://schemas.openxmlformats.org/drawingml/2006/main">
            <a:off x="9305925" y="3638550"/>
            <a:ext cx="2276475" cy="952500"/>
          </a:xfrm>
          <a:prstGeom xmlns:a="http://schemas.openxmlformats.org/drawingml/2006/main" prst="rect">
            <a:avLst/>
          </a:prstGeom>
          <a:solidFill xmlns:a="http://schemas.openxmlformats.org/drawingml/2006/main">
            <a:srgbClr val="234A40"/>
          </a:solidFill>
          <a:ln xmlns:a="http://schemas.openxmlformats.org/drawingml/2006/main" w="14288">
            <a:solidFill>
              <a:srgbClr val="A7E1C7"/>
            </a:solidFill>
          </a:ln>
        </p:spPr>
      </p:sp>
      <p:sp>
        <p:nvSpPr>
          <p:cNvPr id="12" name="">
            <a:extLst xmlns:a="http://schemas.openxmlformats.org/drawingml/2006/main">
              <a:ext uri="{FF2B5EF4-FFF2-40B4-BE49-F238E27FC236}">
                <a16:creationId xmlns:a16="http://schemas.microsoft.com/office/drawing/2014/main" id="{80E5E968-B9DF-4C6C-B033-839ABCEF96A4}"/>
              </a:ext>
            </a:extLst>
          </p:cNvPr>
          <p:cNvSpPr>
            <a:spLocks xmlns:a="http://schemas.openxmlformats.org/drawingml/2006/main" noGrp="1"/>
          </p:cNvSpPr>
          <p:nvPr/>
        </p:nvSpPr>
        <p:spPr>
          <a:xfrm xmlns:a="http://schemas.openxmlformats.org/drawingml/2006/main">
            <a:off x="9448800" y="3810000"/>
            <a:ext cx="19907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FFFFFF"/>
                </a:solidFill>
                <a:latin typeface="Helvetica Neue"/>
                <a:ea typeface="Helvetica Neue"/>
                <a:cs typeface="Helvetica Neue"/>
              </a:defRPr>
            </a:pPr>
            <a:r>
              <a:rPr sz="2100" b="1">
                <a:solidFill>
                  <a:srgbClr val="FFFFFF"/>
                </a:solidFill>
                <a:latin typeface="Helvetica Neue"/>
                <a:ea typeface="Helvetica Neue"/>
                <a:cs typeface="Helvetica Neue"/>
              </a:rPr>
              <a:t>External API</a:t>
            </a:r>
          </a:p>
        </p:txBody>
      </p:sp>
      <p:cxnSp>
        <p:nvCxnSpPr>
          <p:cNvPr id="211" name=""/>
          <p:cNvCxnSpPr>
            <a:stCxn xmlns:a="http://schemas.openxmlformats.org/drawingml/2006/main" id="3" idx="2"/>
            <a:endCxn xmlns:a="http://schemas.openxmlformats.org/drawingml/2006/main" id="7" idx="0"/>
          </p:cNvCxnSpPr>
          <p:nvPr/>
        </p:nvCxnSpPr>
        <p:spPr>
          <a:xfrm xmlns:a="http://schemas.openxmlformats.org/drawingml/2006/main">
            <a:off x="4643438" y="2886075"/>
            <a:ext cx="0" cy="752475"/>
          </a:xfrm>
          <a:prstGeom xmlns:a="http://schemas.openxmlformats.org/drawingml/2006/main" prst="straightConnector1">
            <a:avLst/>
          </a:prstGeom>
          <a:ln xmlns:a="http://schemas.openxmlformats.org/drawingml/2006/main" w="23813">
            <a:solidFill>
              <a:srgbClr val="A7E1C7"/>
            </a:solidFill>
            <a:tailEnd type="triangle" w="med" len="med"/>
          </a:ln>
        </p:spPr>
      </p:cxnSp>
      <p:cxnSp>
        <p:nvCxnSpPr>
          <p:cNvPr id="212" name=""/>
          <p:cNvCxnSpPr>
            <a:stCxn xmlns:a="http://schemas.openxmlformats.org/drawingml/2006/main" id="5" idx="3"/>
            <a:endCxn xmlns:a="http://schemas.openxmlformats.org/drawingml/2006/main" id="7" idx="1"/>
          </p:cNvCxnSpPr>
          <p:nvPr/>
        </p:nvCxnSpPr>
        <p:spPr>
          <a:xfrm xmlns:a="http://schemas.openxmlformats.org/drawingml/2006/main">
            <a:off x="2800350" y="4114800"/>
            <a:ext cx="628650" cy="0"/>
          </a:xfrm>
          <a:prstGeom xmlns:a="http://schemas.openxmlformats.org/drawingml/2006/main" prst="straightConnector1">
            <a:avLst/>
          </a:prstGeom>
          <a:ln xmlns:a="http://schemas.openxmlformats.org/drawingml/2006/main" w="23813">
            <a:solidFill>
              <a:srgbClr val="A7E1C7"/>
            </a:solidFill>
            <a:tailEnd type="triangle" w="med" len="med"/>
          </a:ln>
        </p:spPr>
      </p:cxnSp>
      <p:cxnSp>
        <p:nvCxnSpPr>
          <p:cNvPr id="213" name=""/>
          <p:cNvCxnSpPr>
            <a:stCxn xmlns:a="http://schemas.openxmlformats.org/drawingml/2006/main" id="7" idx="3"/>
            <a:endCxn xmlns:a="http://schemas.openxmlformats.org/drawingml/2006/main" id="9" idx="1"/>
          </p:cNvCxnSpPr>
          <p:nvPr/>
        </p:nvCxnSpPr>
        <p:spPr>
          <a:xfrm xmlns:a="http://schemas.openxmlformats.org/drawingml/2006/main">
            <a:off x="5857875" y="4114800"/>
            <a:ext cx="628650" cy="0"/>
          </a:xfrm>
          <a:prstGeom xmlns:a="http://schemas.openxmlformats.org/drawingml/2006/main" prst="straightConnector1">
            <a:avLst/>
          </a:prstGeom>
          <a:ln xmlns:a="http://schemas.openxmlformats.org/drawingml/2006/main" w="23813">
            <a:solidFill>
              <a:srgbClr val="A7E1C7"/>
            </a:solidFill>
            <a:tailEnd type="triangle" w="med" len="med"/>
          </a:ln>
        </p:spPr>
      </p:cxnSp>
      <p:cxnSp>
        <p:nvCxnSpPr>
          <p:cNvPr id="214" name=""/>
          <p:cNvCxnSpPr>
            <a:stCxn xmlns:a="http://schemas.openxmlformats.org/drawingml/2006/main" id="9" idx="3"/>
            <a:endCxn xmlns:a="http://schemas.openxmlformats.org/drawingml/2006/main" id="11" idx="1"/>
          </p:cNvCxnSpPr>
          <p:nvPr/>
        </p:nvCxnSpPr>
        <p:spPr>
          <a:xfrm xmlns:a="http://schemas.openxmlformats.org/drawingml/2006/main">
            <a:off x="8677275" y="4114800"/>
            <a:ext cx="628650" cy="0"/>
          </a:xfrm>
          <a:prstGeom xmlns:a="http://schemas.openxmlformats.org/drawingml/2006/main" prst="straightConnector1">
            <a:avLst/>
          </a:prstGeom>
          <a:ln xmlns:a="http://schemas.openxmlformats.org/drawingml/2006/main" w="23813">
            <a:solidFill>
              <a:srgbClr val="A7E1C7"/>
            </a:solidFill>
            <a:tailEnd type="triangle" w="med" len="med"/>
          </a:ln>
        </p:spPr>
      </p:cxnSp>
      <p:sp>
        <p:nvSpPr>
          <p:cNvPr id="17" name="">
            <a:extLst xmlns:a="http://schemas.openxmlformats.org/drawingml/2006/main">
              <a:ext uri="{FF2B5EF4-FFF2-40B4-BE49-F238E27FC236}">
                <a16:creationId xmlns:a16="http://schemas.microsoft.com/office/drawing/2014/main" id="{B03B6E0E-64DE-466E-BFA9-F7D99574A7AF}"/>
              </a:ext>
            </a:extLst>
          </p:cNvPr>
          <p:cNvSpPr>
            <a:spLocks xmlns:a="http://schemas.openxmlformats.org/drawingml/2006/main" noGrp="1"/>
          </p:cNvSpPr>
          <p:nvPr/>
        </p:nvSpPr>
        <p:spPr>
          <a:xfrm xmlns:a="http://schemas.openxmlformats.org/drawingml/2006/main">
            <a:off x="6096000" y="2343150"/>
            <a:ext cx="5095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B8CCC3"/>
                </a:solidFill>
                <a:latin typeface="Helvetica Neue"/>
                <a:ea typeface="Helvetica Neue"/>
                <a:cs typeface="Helvetica Neue"/>
              </a:defRPr>
            </a:pPr>
            <a:r>
              <a:rPr sz="1875" b="0">
                <a:solidFill>
                  <a:srgbClr val="B8CCC3"/>
                </a:solidFill>
                <a:latin typeface="Helvetica Neue"/>
                <a:ea typeface="Helvetica Neue"/>
                <a:cs typeface="Helvetica Neue"/>
              </a:rPr>
              <a:t>Creates and revokes grants</a:t>
            </a:r>
          </a:p>
        </p:txBody>
      </p:sp>
      <p:sp>
        <p:nvSpPr>
          <p:cNvPr id="18" name="">
            <a:extLst xmlns:a="http://schemas.openxmlformats.org/drawingml/2006/main">
              <a:ext uri="{FF2B5EF4-FFF2-40B4-BE49-F238E27FC236}">
                <a16:creationId xmlns:a16="http://schemas.microsoft.com/office/drawing/2014/main" id="{7A3D6C4B-A5B2-4308-955A-DBCFBFD7D41F}"/>
              </a:ext>
            </a:extLst>
          </p:cNvPr>
          <p:cNvSpPr>
            <a:spLocks xmlns:a="http://schemas.openxmlformats.org/drawingml/2006/main" noGrp="1"/>
          </p:cNvSpPr>
          <p:nvPr/>
        </p:nvSpPr>
        <p:spPr>
          <a:xfrm xmlns:a="http://schemas.openxmlformats.org/drawingml/2006/main">
            <a:off x="609600" y="4752975"/>
            <a:ext cx="24003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B8CCC3"/>
                </a:solidFill>
                <a:latin typeface="Helvetica Neue"/>
                <a:ea typeface="Helvetica Neue"/>
                <a:cs typeface="Helvetica Neue"/>
              </a:defRPr>
            </a:pPr>
            <a:r>
              <a:rPr sz="1800" b="0">
                <a:solidFill>
                  <a:srgbClr val="B8CCC3"/>
                </a:solidFill>
                <a:latin typeface="Helvetica Neue"/>
                <a:ea typeface="Helvetica Neue"/>
                <a:cs typeface="Helvetica Neue"/>
              </a:rPr>
              <a:t>Checks the program</a:t>
            </a:r>
          </a:p>
          <a:p xmlns:a="http://schemas.openxmlformats.org/drawingml/2006/main">
            <a:pPr>
              <a:buNone/>
              <a:defRPr sz="1800" b="0">
                <a:solidFill>
                  <a:srgbClr val="B8CCC3"/>
                </a:solidFill>
                <a:latin typeface="Helvetica Neue"/>
                <a:ea typeface="Helvetica Neue"/>
                <a:cs typeface="Helvetica Neue"/>
              </a:defRPr>
            </a:pPr>
            <a:r>
              <a:rPr sz="1800" b="0">
                <a:solidFill>
                  <a:srgbClr val="B8CCC3"/>
                </a:solidFill>
                <a:latin typeface="Helvetica Neue"/>
                <a:ea typeface="Helvetica Neue"/>
                <a:cs typeface="Helvetica Neue"/>
              </a:rPr>
              <a:t>before execution</a:t>
            </a:r>
          </a:p>
        </p:txBody>
      </p:sp>
      <p:sp>
        <p:nvSpPr>
          <p:cNvPr id="19" name="">
            <a:extLst xmlns:a="http://schemas.openxmlformats.org/drawingml/2006/main">
              <a:ext uri="{FF2B5EF4-FFF2-40B4-BE49-F238E27FC236}">
                <a16:creationId xmlns:a16="http://schemas.microsoft.com/office/drawing/2014/main" id="{38D065E0-74D2-434A-8E8C-84BB7CEA4B15}"/>
              </a:ext>
            </a:extLst>
          </p:cNvPr>
          <p:cNvSpPr>
            <a:spLocks xmlns:a="http://schemas.openxmlformats.org/drawingml/2006/main" noGrp="1"/>
          </p:cNvSpPr>
          <p:nvPr/>
        </p:nvSpPr>
        <p:spPr>
          <a:xfrm xmlns:a="http://schemas.openxmlformats.org/drawingml/2006/main">
            <a:off x="3429000" y="4752975"/>
            <a:ext cx="2552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B8CCC3"/>
                </a:solidFill>
                <a:latin typeface="Helvetica Neue"/>
                <a:ea typeface="Helvetica Neue"/>
                <a:cs typeface="Helvetica Neue"/>
              </a:defRPr>
            </a:pPr>
            <a:r>
              <a:rPr sz="1800" b="0">
                <a:solidFill>
                  <a:srgbClr val="B8CCC3"/>
                </a:solidFill>
                <a:latin typeface="Helvetica Neue"/>
                <a:ea typeface="Helvetica Neue"/>
                <a:cs typeface="Helvetica Neue"/>
              </a:rPr>
              <a:t>Checks live grants</a:t>
            </a:r>
          </a:p>
          <a:p xmlns:a="http://schemas.openxmlformats.org/drawingml/2006/main">
            <a:pPr>
              <a:buNone/>
              <a:defRPr sz="1800" b="0">
                <a:solidFill>
                  <a:srgbClr val="B8CCC3"/>
                </a:solidFill>
                <a:latin typeface="Helvetica Neue"/>
                <a:ea typeface="Helvetica Neue"/>
                <a:cs typeface="Helvetica Neue"/>
              </a:defRPr>
            </a:pPr>
            <a:r>
              <a:rPr sz="1800" b="0">
                <a:solidFill>
                  <a:srgbClr val="B8CCC3"/>
                </a:solidFill>
                <a:latin typeface="Helvetica Neue"/>
                <a:ea typeface="Helvetica Neue"/>
                <a:cs typeface="Helvetica Neue"/>
              </a:rPr>
              <a:t>and mints a call token</a:t>
            </a:r>
          </a:p>
        </p:txBody>
      </p:sp>
      <p:sp>
        <p:nvSpPr>
          <p:cNvPr id="20" name="">
            <a:extLst xmlns:a="http://schemas.openxmlformats.org/drawingml/2006/main">
              <a:ext uri="{FF2B5EF4-FFF2-40B4-BE49-F238E27FC236}">
                <a16:creationId xmlns:a16="http://schemas.microsoft.com/office/drawing/2014/main" id="{9AF3A837-9214-491B-9AEF-B2A7CE6600BE}"/>
              </a:ext>
            </a:extLst>
          </p:cNvPr>
          <p:cNvSpPr>
            <a:spLocks xmlns:a="http://schemas.openxmlformats.org/drawingml/2006/main" noGrp="1"/>
          </p:cNvSpPr>
          <p:nvPr/>
        </p:nvSpPr>
        <p:spPr>
          <a:xfrm xmlns:a="http://schemas.openxmlformats.org/drawingml/2006/main">
            <a:off x="6486525" y="4752975"/>
            <a:ext cx="2362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B8CCC3"/>
                </a:solidFill>
                <a:latin typeface="Helvetica Neue"/>
                <a:ea typeface="Helvetica Neue"/>
                <a:cs typeface="Helvetica Neue"/>
              </a:defRPr>
            </a:pPr>
            <a:r>
              <a:rPr sz="1800" b="0">
                <a:solidFill>
                  <a:srgbClr val="B8CCC3"/>
                </a:solidFill>
                <a:latin typeface="Helvetica Neue"/>
                <a:ea typeface="Helvetica Neue"/>
                <a:cs typeface="Helvetica Neue"/>
              </a:rPr>
              <a:t>Verifies the token</a:t>
            </a:r>
          </a:p>
          <a:p xmlns:a="http://schemas.openxmlformats.org/drawingml/2006/main">
            <a:pPr>
              <a:buNone/>
              <a:defRPr sz="1800" b="0">
                <a:solidFill>
                  <a:srgbClr val="B8CCC3"/>
                </a:solidFill>
                <a:latin typeface="Helvetica Neue"/>
                <a:ea typeface="Helvetica Neue"/>
                <a:cs typeface="Helvetica Neue"/>
              </a:defRPr>
            </a:pPr>
            <a:r>
              <a:rPr sz="1800" b="0">
                <a:solidFill>
                  <a:srgbClr val="B8CCC3"/>
                </a:solidFill>
                <a:latin typeface="Helvetica Neue"/>
                <a:ea typeface="Helvetica Neue"/>
                <a:cs typeface="Helvetica Neue"/>
              </a:rPr>
              <a:t>and holds the key</a:t>
            </a:r>
          </a:p>
        </p:txBody>
      </p:sp>
      <p:sp>
        <p:nvSpPr>
          <p:cNvPr id="21" name="">
            <a:extLst xmlns:a="http://schemas.openxmlformats.org/drawingml/2006/main">
              <a:ext uri="{FF2B5EF4-FFF2-40B4-BE49-F238E27FC236}">
                <a16:creationId xmlns:a16="http://schemas.microsoft.com/office/drawing/2014/main" id="{F33E8658-6911-47F3-AB3D-5CCC0885C1B5}"/>
              </a:ext>
            </a:extLst>
          </p:cNvPr>
          <p:cNvSpPr>
            <a:spLocks xmlns:a="http://schemas.openxmlformats.org/drawingml/2006/main" noGrp="1"/>
          </p:cNvSpPr>
          <p:nvPr/>
        </p:nvSpPr>
        <p:spPr>
          <a:xfrm xmlns:a="http://schemas.openxmlformats.org/drawingml/2006/main">
            <a:off x="9305925" y="4752975"/>
            <a:ext cx="23050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B8CCC3"/>
                </a:solidFill>
                <a:latin typeface="Helvetica Neue"/>
                <a:ea typeface="Helvetica Neue"/>
                <a:cs typeface="Helvetica Neue"/>
              </a:defRPr>
            </a:pPr>
            <a:r>
              <a:rPr sz="1800" b="0">
                <a:solidFill>
                  <a:srgbClr val="B8CCC3"/>
                </a:solidFill>
                <a:latin typeface="Helvetica Neue"/>
                <a:ea typeface="Helvetica Neue"/>
                <a:cs typeface="Helvetica Neue"/>
              </a:rPr>
              <a:t>Performs the named</a:t>
            </a:r>
          </a:p>
          <a:p xmlns:a="http://schemas.openxmlformats.org/drawingml/2006/main">
            <a:pPr>
              <a:buNone/>
              <a:defRPr sz="1800" b="0">
                <a:solidFill>
                  <a:srgbClr val="B8CCC3"/>
                </a:solidFill>
                <a:latin typeface="Helvetica Neue"/>
                <a:ea typeface="Helvetica Neue"/>
                <a:cs typeface="Helvetica Neue"/>
              </a:defRPr>
            </a:pPr>
            <a:r>
              <a:rPr sz="1800" b="0">
                <a:solidFill>
                  <a:srgbClr val="B8CCC3"/>
                </a:solidFill>
                <a:latin typeface="Helvetica Neue"/>
                <a:ea typeface="Helvetica Neue"/>
                <a:cs typeface="Helvetica Neue"/>
              </a:rPr>
              <a:t>provider operation</a:t>
            </a:r>
          </a:p>
        </p:txBody>
      </p:sp>
      <p:sp>
        <p:nvSpPr>
          <p:cNvPr id="22" name="">
            <a:extLst xmlns:a="http://schemas.openxmlformats.org/drawingml/2006/main">
              <a:ext uri="{FF2B5EF4-FFF2-40B4-BE49-F238E27FC236}">
                <a16:creationId xmlns:a16="http://schemas.microsoft.com/office/drawing/2014/main" id="{F6DDDDFF-236E-4957-9F00-68FE38001169}"/>
              </a:ext>
            </a:extLst>
          </p:cNvPr>
          <p:cNvSpPr>
            <a:spLocks xmlns:a="http://schemas.openxmlformats.org/drawingml/2006/main" noGrp="1"/>
          </p:cNvSpPr>
          <p:nvPr/>
        </p:nvSpPr>
        <p:spPr>
          <a:xfrm xmlns:a="http://schemas.openxmlformats.org/drawingml/2006/main">
            <a:off x="609600" y="57340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A7E1C7"/>
                </a:solidFill>
                <a:latin typeface="Helvetica Neue"/>
                <a:ea typeface="Helvetica Neue"/>
                <a:cs typeface="Helvetica Neue"/>
              </a:defRPr>
            </a:pPr>
            <a:r>
              <a:rPr sz="1650" b="0">
                <a:solidFill>
                  <a:srgbClr val="A7E1C7"/>
                </a:solidFill>
                <a:latin typeface="Helvetica Neue"/>
                <a:ea typeface="Helvetica Neue"/>
                <a:cs typeface="Helvetica Neue"/>
              </a:rPr>
              <a:t>Connection secrets are stored only in Broker. Its API supports create, rotate and delete, with no read-back.</a:t>
            </a:r>
          </a:p>
          <a:p xmlns:a="http://schemas.openxmlformats.org/drawingml/2006/main">
            <a:pPr>
              <a:buNone/>
              <a:defRPr sz="1650" b="0">
                <a:solidFill>
                  <a:srgbClr val="A7E1C7"/>
                </a:solidFill>
                <a:latin typeface="Helvetica Neue"/>
                <a:ea typeface="Helvetica Neue"/>
                <a:cs typeface="Helvetica Neue"/>
              </a:defRPr>
            </a:pPr>
            <a:r>
              <a:rPr sz="1650" b="0">
                <a:solidFill>
                  <a:srgbClr val="A7E1C7"/>
                </a:solidFill>
                <a:latin typeface="Helvetica Neue"/>
                <a:ea typeface="Helvetica Neue"/>
                <a:cs typeface="Helvetica Neue"/>
              </a:rPr>
              <a:t>The compiler forwards scoped tokens. Broker uses the secrets internally to call external services.</a:t>
            </a:r>
          </a:p>
        </p:txBody>
      </p:sp>
    </p:spTree>
    <p:extLst>
      <p:ext uri="{BB962C8B-B14F-4D97-AF65-F5344CB8AC3E}">
        <p14:creationId xmlns:p14="http://schemas.microsoft.com/office/powerpoint/2010/main" val="6812462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2026-10-01T00:54:40.9810000Z</dcterms:created>
  <dcterms:modified xsi:type="dcterms:W3CDTF">2026-10-01T00:54:40.9810000Z</dcterms:modified>
</coreProperties>
</file>