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6b8e852b5646fa" /><Relationship Type="http://schemas.openxmlformats.org/officeDocument/2006/relationships/extended-properties" Target="/docProps/app.xml" Id="R7a360a1904d14d2d" /><Relationship Type="http://schemas.openxmlformats.org/officeDocument/2006/relationships/officeDocument" Target="/ppt/presentation.xml" Id="R1f7b0d1aa0004ed8" /></Relationships>
</file>

<file path=ppt/presentation.xml><?xml version="1.0" encoding="utf-8"?>
<p:presentation xmlns:p="http://schemas.openxmlformats.org/presentationml/2006/main">
  <p:sldMasterIdLst>
    <p:sldMasterId xmlns:r="http://schemas.openxmlformats.org/officeDocument/2006/relationships" id="2147483648" r:id="R87db22372e1e4375"/>
  </p:sldMasterIdLst>
  <p:notesMasterIdLst>
    <p:notesMasterId xmlns:r="http://schemas.openxmlformats.org/officeDocument/2006/relationships" r:id="R3b2ec23af7c443d2"/>
  </p:notesMasterIdLst>
  <p:sldIdLst>
    <p:sldId xmlns:r="http://schemas.openxmlformats.org/officeDocument/2006/relationships" id="256" r:id="Rc8bcc9a05fbc44af"/>
    <p:sldId xmlns:r="http://schemas.openxmlformats.org/officeDocument/2006/relationships" id="257" r:id="R05b09a2cc6124edf"/>
    <p:sldId xmlns:r="http://schemas.openxmlformats.org/officeDocument/2006/relationships" id="258" r:id="Rac5a212c97904963"/>
    <p:sldId xmlns:r="http://schemas.openxmlformats.org/officeDocument/2006/relationships" id="259" r:id="Rde1d8d595161440d"/>
    <p:sldId xmlns:r="http://schemas.openxmlformats.org/officeDocument/2006/relationships" id="260" r:id="Rb05428c2fe69463d"/>
    <p:sldId xmlns:r="http://schemas.openxmlformats.org/officeDocument/2006/relationships" id="261" r:id="Rcd031cf9921648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547fb27d0c4c2d" /><Relationship Type="http://schemas.openxmlformats.org/officeDocument/2006/relationships/slideMaster" Target="/ppt/slideMasters/slideMaster1.xml" Id="R87db22372e1e4375" /><Relationship Type="http://schemas.openxmlformats.org/officeDocument/2006/relationships/notesMaster" Target="/ppt/notesMasters/notesMaster1.xml" Id="R3b2ec23af7c443d2" /><Relationship Type="http://schemas.openxmlformats.org/officeDocument/2006/relationships/presProps" Target="/ppt/presProps.xml" Id="Redce9779cbc24ab4" /><Relationship Type="http://schemas.openxmlformats.org/officeDocument/2006/relationships/tableStyles" Target="/ppt/tableStyles.xml" Id="Rff6323c0f87d468d" /><Relationship Type="http://schemas.openxmlformats.org/officeDocument/2006/relationships/slide" Target="/ppt/slides/slide1.xml" Id="Rc8bcc9a05fbc44af" /><Relationship Type="http://schemas.openxmlformats.org/officeDocument/2006/relationships/slide" Target="/ppt/slides/slide2.xml" Id="R05b09a2cc6124edf" /><Relationship Type="http://schemas.openxmlformats.org/officeDocument/2006/relationships/slide" Target="/ppt/slides/slide3.xml" Id="Rac5a212c97904963" /><Relationship Type="http://schemas.openxmlformats.org/officeDocument/2006/relationships/slide" Target="/ppt/slides/slide4.xml" Id="Rde1d8d595161440d" /><Relationship Type="http://schemas.openxmlformats.org/officeDocument/2006/relationships/slide" Target="/ppt/slides/slide5.xml" Id="Rb05428c2fe69463d" /><Relationship Type="http://schemas.openxmlformats.org/officeDocument/2006/relationships/slide" Target="/ppt/slides/slide6.xml" Id="Rcd031cf9921648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ccf325cb844c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b1bc8b60834f9a" /><Relationship Type="http://schemas.openxmlformats.org/officeDocument/2006/relationships/notesMaster" Target="/ppt/notesMasters/notesMaster1.xml" Id="Rfefe93cf811c43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0b1175e2494300" /><Relationship Type="http://schemas.openxmlformats.org/officeDocument/2006/relationships/notesMaster" Target="/ppt/notesMasters/notesMaster1.xml" Id="R1e34ad2cfc104b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f056f4e75747a5" /><Relationship Type="http://schemas.openxmlformats.org/officeDocument/2006/relationships/notesMaster" Target="/ppt/notesMasters/notesMaster1.xml" Id="Rec484929964140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fa269109da486d" /><Relationship Type="http://schemas.openxmlformats.org/officeDocument/2006/relationships/notesMaster" Target="/ppt/notesMasters/notesMaster1.xml" Id="Rba5440e0a6354a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8d6e01554f4c4a" /><Relationship Type="http://schemas.openxmlformats.org/officeDocument/2006/relationships/notesMaster" Target="/ppt/notesMasters/notesMaster1.xml" Id="Rbb1d7bab1e0e4c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2db546a2b7439d" /><Relationship Type="http://schemas.openxmlformats.org/officeDocument/2006/relationships/notesMaster" Target="/ppt/notesMasters/notesMaster1.xml" Id="R5c7d97d003fb43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wrap="square">
            <a:noAutofit/>
          </a:bodyPr>
          <a:lstStyle/>
          <a:p>
            <a:pPr>
              <a:buNone/>
              <a:defRPr sz="1200" b="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Scope: owner-managed delegated authorization with scoped execution tokens, a hybrid of identity policy and capability-style execution. Chain admission and Broker execution-time authorization are intended requirements. Source: docs/graffiticode_capability_policy_spec.md, revision 2026-10-02, contract v2. Implementation evidence: docs/capability-policy-as-built.md. This deck describes required behavior, not deployed conformance. Requirements MODEL-01 through MODEL-03.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wrap="square">
            <a:noAutofit/>
          </a:bodyPr>
          <a:lstStyle/>
          <a:p>
            <a:pPr>
              <a:buNone/>
              <a:defRPr sz="1200" b="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Identity and connection provisioning precede this diagram. Auth verifies the user; service identity is verified independently. Only Policy provisions Broker secrets. API means the gateway; Compiler represents each pinned compiler revision in the composition. API allocates the invocation, collects every stage preflight, and obtains one Policy admission before executing any stage. Stage sessions and execution tokens inherit the admitted plan binding. Steps 6–8 recur for each protected operation. Broker validates token, caller, registry, payload digest, credential binding and single-use status, then requests uncached live Policy authorization before every provider request or signature, including each step of a multi-request write. Branch 9a is a provider write. Branch 9b returns signed provider data through Compiler and API to Browser; its dashed arrow depicts this logical return, not a direct Broker/browser transport. Browser uses that request at step 10. Minting and stage-session responses are omitted. Source: docs/graffiticode_capability_policy_spec.md, revision 2026-10-02, contract v2. Implementation evidence: docs/capability-policy-as-built.md. This deck describes required behavior, not deployed conformance. Requirements AUTH-01, ADMIT-01 through ADMIT-03, EXEC-01, EXEC-02, API-01 and API-02.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wrap="square">
            <a:noAutofit/>
          </a:bodyPr>
          <a:lstStyle/>
          <a:p>
            <a:pPr>
              <a:buNone/>
              <a:defRPr sz="1200" b="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The admitted plan binds the complete ordered stages, normalized programs, immutable compiler revisions, connection, invocation, input digest and registry version. Retry identity is retained. Execution tokens expire in at most 60 seconds and are single-use at Broker; that property does not apply to provider sessions. Durable receipts bind operation identity and arguments, survive retries and have no automatic expiry. Pending or uncertain receipts never trigger automatic re-execution. A deliberate new invocation may repeat writes. Source: docs/graffiticode_capability_policy_spec.md, revision 2026-10-02, contract v2. Implementation evidence: docs/capability-policy-as-built.md. This deck describes required behavior, not deployed conformance. Requirements RUN-01, ADMIT-01 through ADMIT-03, TOKEN-01, WRITE-01, WRITE-02 and RETAIN-01.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wrap="square">
            <a:noAutofit/>
          </a:bodyPr>
          <a:lstStyle/>
          <a:p>
            <a:pPr>
              <a:buNone/>
              <a:defRPr sz="1200" b="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Admission is chain-wide: denial of a later stage prevents earlier effects. Policy also rechecks at mint; the right column adds the required Broker-to-Policy check immediately before each effect or receipt replay. Checks fail closed when Policy is unavailable. Revocation committed before the authorization read is observed. A check that precedes revocation may authorize immediately following dispatch; no distributed provider transaction or rollback is promised. Revoke between provider writes and later steps stop, with known completed steps preserved. Existing browser sessions obey separately verified provider lifetime/revocation limits. Source: docs/graffiticode_capability_policy_spec.md, revision 2026-10-02, contract v2. Implementation evidence: docs/capability-policy-as-built.md. This deck describes required behavior, not deployed conformance. Requirements ADMIT-02, EXEC-02, REVOKE-01, WRITE-01 and PROVIDER-01.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wrap="square">
            <a:noAutofit/>
          </a:bodyPr>
          <a:lstStyle/>
          <a:p>
            <a:pPr>
              <a:buNone/>
              <a:defRPr sz="1200" b="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Alice grants Bob exactly L0176 save-to-itembank on her connection. Implicit delegable init preview permission accompanies it. The grant does not cover another language, item-scoped access, onward sharing, publication or Author. Save operations create draft records; they do not publish. Only a connection owner can publish their own eligible artifact. Author is owner-only but disabled at both Policy and Broker until provider request shape, edit/delete/reference/widget restrictions and session limits pass real integration tests. Source: docs/graffiticode_capability_policy_spec.md, revision 2026-10-02, contract v2. Implementation evidence: docs/capability-policy-as-built.md. This deck describes required behavior, not deployed conformance. Requirements GRANT-01, L0176-01, AUTHOR-01 and PUB-01.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wrap="square">
            <a:noAutofit/>
          </a:bodyPr>
          <a:lstStyle/>
          <a:p>
            <a:pPr>
              <a:buNone/>
              <a:defRPr sz="1200" b="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Arrows summarize authority relationships. Gateway coordinates preflight; Policy admits the full chain and rechecks at mint and execution. The two-way Policy/Broker link includes Broker’s live authorization request. Broker alone stores connection secrets, encrypted and bound to immutable owner/backend/provider identity. Console and Policy handle secrets only transiently when provisioning; Broker has create/rotate/delete and no read-back API. Enforced egress and least-privilege identities prevent compiler bypass; old provider credentials must be invalidated. Provider writes occur at Broker; browser signing follows slide 2. System previews have no user grant and cannot write or issue Author authority. Private and published views use unsigned stored artifacts and fresh preview authority, never rerun source saves. Publication is owner-only and pins immutable artifact content. Source: docs/graffiticode_capability_policy_spec.md, revision 2026-10-02, contract v2. Implementation evidence: docs/capability-policy-as-built.md. This deck describes required behavior, not deployed conformance. Requirements SECRET-01, ISOLATE-01, PREVIEW-01, ARTIFACT-01, READ-01, PUB-01 and RELEASE-01.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60e9f6fda04e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5740ef2ec3460d" /><Relationship Type="http://schemas.openxmlformats.org/officeDocument/2006/relationships/slideLayout" Target="/ppt/slideLayouts/slideLayout1.xml" Id="Re1cf3b588c044f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cf3b588c044f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8935f2ef894284" /><Relationship Type="http://schemas.openxmlformats.org/officeDocument/2006/relationships/notesSlide" Target="/ppt/notesSlides/notesSlide1.xml" Id="R1b6a716dead344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233ba1b00944b3" /><Relationship Type="http://schemas.openxmlformats.org/officeDocument/2006/relationships/notesSlide" Target="/ppt/notesSlides/notesSlide2.xml" Id="Rf709b2ffd4d546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42639f9e3741d7" /><Relationship Type="http://schemas.openxmlformats.org/officeDocument/2006/relationships/notesSlide" Target="/ppt/notesSlides/notesSlide3.xml" Id="Rffacb2af405243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8f3cf45f6f4ae9" /><Relationship Type="http://schemas.openxmlformats.org/officeDocument/2006/relationships/notesSlide" Target="/ppt/notesSlides/notesSlide4.xml" Id="Rc80e4a1b035043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28db160c8249b3" /><Relationship Type="http://schemas.openxmlformats.org/officeDocument/2006/relationships/notesSlide" Target="/ppt/notesSlides/notesSlide5.xml" Id="Rbcfbec7e8c3e40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92f6e618d34f8a" /><Relationship Type="http://schemas.openxmlformats.org/officeDocument/2006/relationships/notesSlide" Target="/ppt/notesSlides/notesSlide6.xml" Id="Rb33378346a634dd5" /></Relationships>
</file>

<file path=ppt/slides/slide1.xml><?xml version="1.0" encoding="utf-8"?>
<p:sld xmlns:p="http://schemas.openxmlformats.org/presentationml/2006/main">
  <p:cSld>
    <p:bg>
      <p:bgPr>
        <a:solidFill xmlns:a="http://schemas.openxmlformats.org/drawingml/2006/main">
          <a:srgbClr val="17302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36F2BE-ACB9-4F6D-8E0A-0B784F030AC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Graffiticode’s capability</a:t>
            </a:r>
          </a:p>
          <a:p xmlns:a="http://schemas.openxmlformats.org/drawingml/2006/main">
            <a:pPr>
              <a:buNone/>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security model</a:t>
            </a:r>
          </a:p>
        </p:txBody>
      </p:sp>
      <p:sp>
        <p:nvSpPr>
          <p:cNvPr id="2" name="">
            <a:extLst xmlns:a="http://schemas.openxmlformats.org/drawingml/2006/main">
              <a:ext uri="{FF2B5EF4-FFF2-40B4-BE49-F238E27FC236}">
                <a16:creationId xmlns:a16="http://schemas.microsoft.com/office/drawing/2014/main" id="{709C4078-06DE-4DA1-A27A-3C07991682ED}"/>
              </a:ext>
            </a:extLst>
          </p:cNvPr>
          <p:cNvSpPr>
            <a:spLocks xmlns:a="http://schemas.openxmlformats.org/drawingml/2006/main" noGrp="1"/>
          </p:cNvSpPr>
          <p:nvPr/>
        </p:nvSpPr>
        <p:spPr>
          <a:xfrm xmlns:a="http://schemas.openxmlformats.org/drawingml/2006/main">
            <a:off x="609600" y="2428875"/>
            <a:ext cx="10382250" cy="1381125"/>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3600" b="1">
                <a:solidFill>
                  <a:srgbClr val="A7E1C7"/>
                </a:solidFill>
                <a:latin typeface="Helvetica Neue"/>
                <a:ea typeface="Helvetica Neue"/>
                <a:cs typeface="Helvetica Neue"/>
              </a:defRPr>
            </a:pPr>
            <a:r>
              <a:rPr sz="3600" b="1">
                <a:solidFill>
                  <a:srgbClr val="A7E1C7"/>
                </a:solidFill>
                <a:latin typeface="Helvetica Neue"/>
                <a:ea typeface="Helvetica Neue"/>
                <a:cs typeface="Helvetica Neue"/>
              </a:rPr>
              <a:t>Owner-managed grants.</a:t>
            </a:r>
          </a:p>
          <a:p>
            <a:pPr>
              <a:buNone/>
              <a:defRPr sz="3600" b="1">
                <a:solidFill>
                  <a:srgbClr val="A7E1C7"/>
                </a:solidFill>
                <a:latin typeface="Helvetica Neue"/>
                <a:ea typeface="Helvetica Neue"/>
                <a:cs typeface="Helvetica Neue"/>
              </a:defRPr>
            </a:pPr>
            <a:r>
              <a:rPr sz="3600" b="1">
                <a:solidFill>
                  <a:srgbClr val="A7E1C7"/>
                </a:solidFill>
                <a:latin typeface="Helvetica Neue"/>
                <a:ea typeface="Helvetica Neue"/>
                <a:cs typeface="Helvetica Neue"/>
              </a:rPr>
              <a:t>Live checks for every protected call.</a:t>
            </a:r>
          </a:p>
        </p:txBody>
      </p:sp>
      <p:sp>
        <p:nvSpPr>
          <p:cNvPr id="3" name="">
            <a:extLst xmlns:a="http://schemas.openxmlformats.org/drawingml/2006/main">
              <a:ext uri="{FF2B5EF4-FFF2-40B4-BE49-F238E27FC236}">
                <a16:creationId xmlns:a16="http://schemas.microsoft.com/office/drawing/2014/main" id="{EEB606F3-B174-474B-9540-974939DF3F10}"/>
              </a:ext>
            </a:extLst>
          </p:cNvPr>
          <p:cNvSpPr>
            <a:spLocks xmlns:a="http://schemas.openxmlformats.org/drawingml/2006/main" noGrp="1"/>
          </p:cNvSpPr>
          <p:nvPr/>
        </p:nvSpPr>
        <p:spPr>
          <a:xfrm xmlns:a="http://schemas.openxmlformats.org/drawingml/2006/main">
            <a:off x="609600" y="45529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A hybrid of identity-based policy and capability-style execution</a:t>
            </a:r>
          </a:p>
        </p:txBody>
      </p:sp>
      <p:sp>
        <p:nvSpPr>
          <p:cNvPr id="4" name="">
            <a:extLst xmlns:a="http://schemas.openxmlformats.org/drawingml/2006/main">
              <a:ext uri="{FF2B5EF4-FFF2-40B4-BE49-F238E27FC236}">
                <a16:creationId xmlns:a16="http://schemas.microsoft.com/office/drawing/2014/main" id="{78686B9A-68D7-4D1F-A3A5-7717175FBA75}"/>
              </a:ext>
            </a:extLst>
          </p:cNvPr>
          <p:cNvSpPr>
            <a:spLocks xmlns:a="http://schemas.openxmlformats.org/drawingml/2006/main" noGrp="1"/>
          </p:cNvSpPr>
          <p:nvPr/>
        </p:nvSpPr>
        <p:spPr>
          <a:xfrm xmlns:a="http://schemas.openxmlformats.org/drawingml/2006/main">
            <a:off x="609600" y="5810250"/>
            <a:ext cx="10001250" cy="6096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575" b="0">
                <a:solidFill>
                  <a:srgbClr val="B8CCC3"/>
                </a:solidFill>
                <a:latin typeface="Helvetica Neue"/>
                <a:ea typeface="Helvetica Neue"/>
                <a:cs typeface="Helvetica Neue"/>
              </a:defRPr>
            </a:pPr>
            <a:r>
              <a:rPr sz="1575" b="0">
                <a:solidFill>
                  <a:srgbClr val="B8CCC3"/>
                </a:solidFill>
                <a:latin typeface="Helvetica Neue"/>
                <a:ea typeface="Helvetica Neue"/>
                <a:cs typeface="Helvetica Neue"/>
              </a:rPr>
              <a:t>Intended design, contract v2</a:t>
            </a:r>
          </a:p>
          <a:p>
            <a:pPr>
              <a:buNone/>
              <a:defRPr sz="1575" b="0">
                <a:solidFill>
                  <a:srgbClr val="B8CCC3"/>
                </a:solidFill>
                <a:latin typeface="Helvetica Neue"/>
                <a:ea typeface="Helvetica Neue"/>
                <a:cs typeface="Helvetica Neue"/>
              </a:defRPr>
            </a:pPr>
            <a:r>
              <a:rPr sz="1575" b="0">
                <a:solidFill>
                  <a:srgbClr val="B8CCC3"/>
                </a:solidFill>
                <a:latin typeface="Helvetica Neue"/>
                <a:ea typeface="Helvetica Neue"/>
                <a:cs typeface="Helvetica Neue"/>
              </a:rPr>
              <a:t>Specification dated 2 October 2026</a:t>
            </a:r>
          </a:p>
        </p:txBody>
      </p:sp>
    </p:spTree>
    <p:extLst>
      <p:ext uri="{BB962C8B-B14F-4D97-AF65-F5344CB8AC3E}">
        <p14:creationId xmlns:p14="http://schemas.microsoft.com/office/powerpoint/2010/main" val="683039689"/>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168364CC-691E-48FD-B170-9A0B434AD4E8}"/>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02B"/>
                </a:solidFill>
                <a:latin typeface="Helvetica Neue"/>
                <a:ea typeface="Helvetica Neue"/>
                <a:cs typeface="Helvetica Neue"/>
              </a:defRPr>
            </a:pPr>
            <a:r>
              <a:rPr sz="3300" b="1">
                <a:solidFill>
                  <a:srgbClr val="17302B"/>
                </a:solidFill>
                <a:latin typeface="Helvetica Neue"/>
                <a:ea typeface="Helvetica Neue"/>
                <a:cs typeface="Helvetica Neue"/>
              </a:rPr>
              <a:t>Services in a protected run</a:t>
            </a:r>
          </a:p>
        </p:txBody>
      </p:sp>
      <p:sp>
        <p:nvSpPr>
          <p:cNvPr id="2" name="">
            <a:extLst xmlns:a="http://schemas.openxmlformats.org/drawingml/2006/main">
              <a:ext uri="{FF2B5EF4-FFF2-40B4-BE49-F238E27FC236}">
                <a16:creationId xmlns:a16="http://schemas.microsoft.com/office/drawing/2014/main" id="{2102AB98-167F-41DB-84A4-6FFA9CBE2F6D}"/>
              </a:ext>
            </a:extLst>
          </p:cNvPr>
          <p:cNvSpPr>
            <a:spLocks xmlns:a="http://schemas.openxmlformats.org/drawingml/2006/main" noGrp="1"/>
          </p:cNvSpPr>
          <p:nvPr/>
        </p:nvSpPr>
        <p:spPr>
          <a:xfrm xmlns:a="http://schemas.openxmlformats.org/drawingml/2006/main">
            <a:off x="609600" y="1114425"/>
            <a:ext cx="10858500" cy="4381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025" b="0">
                <a:solidFill>
                  <a:srgbClr val="53645D"/>
                </a:solidFill>
                <a:latin typeface="Helvetica Neue"/>
                <a:ea typeface="Helvetica Neue"/>
                <a:cs typeface="Helvetica Neue"/>
              </a:defRPr>
            </a:pPr>
            <a:r>
              <a:rPr sz="2025" b="0">
                <a:solidFill>
                  <a:srgbClr val="53645D"/>
                </a:solidFill>
                <a:latin typeface="Helvetica Neue"/>
                <a:ea typeface="Helvetica Neue"/>
                <a:cs typeface="Helvetica Neue"/>
              </a:rPr>
              <a:t>Auth verifies identity. API preflights every stage before Policy admits the chain.</a:t>
            </a:r>
          </a:p>
        </p:txBody>
      </p:sp>
      <p:sp>
        <p:nvSpPr>
          <p:cNvPr id="3" name="">
            <a:extLst xmlns:a="http://schemas.openxmlformats.org/drawingml/2006/main">
              <a:ext uri="{FF2B5EF4-FFF2-40B4-BE49-F238E27FC236}">
                <a16:creationId xmlns:a16="http://schemas.microsoft.com/office/drawing/2014/main" id="{CF30AB86-424E-486B-B114-767D985019D6}"/>
              </a:ext>
            </a:extLst>
          </p:cNvPr>
          <p:cNvSpPr>
            <a:spLocks xmlns:a="http://schemas.openxmlformats.org/drawingml/2006/main" noGrp="1"/>
          </p:cNvSpPr>
          <p:nvPr/>
        </p:nvSpPr>
        <p:spPr>
          <a:xfrm xmlns:a="http://schemas.openxmlformats.org/drawingml/2006/main">
            <a:off x="438150" y="1733550"/>
            <a:ext cx="1409700" cy="457200"/>
          </a:xfrm>
          <a:prstGeom xmlns:a="http://schemas.openxmlformats.org/drawingml/2006/main" prst="rect">
            <a:avLst/>
          </a:prstGeom>
          <a:solidFill xmlns:a="http://schemas.openxmlformats.org/drawingml/2006/main">
            <a:srgbClr val="1730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546B81-010F-4957-8DEE-02D0811A3906}"/>
              </a:ext>
            </a:extLst>
          </p:cNvPr>
          <p:cNvSpPr>
            <a:spLocks xmlns:a="http://schemas.openxmlformats.org/drawingml/2006/main" noGrp="1"/>
          </p:cNvSpPr>
          <p:nvPr/>
        </p:nvSpPr>
        <p:spPr>
          <a:xfrm xmlns:a="http://schemas.openxmlformats.org/drawingml/2006/main">
            <a:off x="523875" y="1762125"/>
            <a:ext cx="1238250" cy="3810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Client</a:t>
            </a:r>
          </a:p>
        </p:txBody>
      </p:sp>
      <p:sp>
        <p:nvSpPr>
          <p:cNvPr id="5" name="">
            <a:extLst xmlns:a="http://schemas.openxmlformats.org/drawingml/2006/main">
              <a:ext uri="{FF2B5EF4-FFF2-40B4-BE49-F238E27FC236}">
                <a16:creationId xmlns:a16="http://schemas.microsoft.com/office/drawing/2014/main" id="{FF3EC029-B917-4D9B-AD0A-F9C77317004D}"/>
              </a:ext>
            </a:extLst>
          </p:cNvPr>
          <p:cNvSpPr>
            <a:spLocks xmlns:a="http://schemas.openxmlformats.org/drawingml/2006/main" noGrp="1"/>
          </p:cNvSpPr>
          <p:nvPr/>
        </p:nvSpPr>
        <p:spPr>
          <a:xfrm xmlns:a="http://schemas.openxmlformats.org/drawingml/2006/main">
            <a:off x="1143000" y="2228850"/>
            <a:ext cx="0" cy="3886200"/>
          </a:xfrm>
          <a:prstGeom xmlns:a="http://schemas.openxmlformats.org/drawingml/2006/main" prst="line">
            <a:avLst/>
          </a:prstGeom>
          <a:noFill xmlns:a="http://schemas.openxmlformats.org/drawingml/2006/main"/>
          <a:ln xmlns:a="http://schemas.openxmlformats.org/drawingml/2006/main" w="9525">
            <a:solidFill>
              <a:srgbClr val="B7C9C0"/>
            </a:solidFill>
            <a:prstDash val="dash"/>
          </a:ln>
        </p:spPr>
      </p:sp>
      <p:sp>
        <p:nvSpPr>
          <p:cNvPr id="6" name="">
            <a:extLst xmlns:a="http://schemas.openxmlformats.org/drawingml/2006/main">
              <a:ext uri="{FF2B5EF4-FFF2-40B4-BE49-F238E27FC236}">
                <a16:creationId xmlns:a16="http://schemas.microsoft.com/office/drawing/2014/main" id="{8C0086D9-4B95-4B5A-B5C7-2A7BB1D4B64C}"/>
              </a:ext>
            </a:extLst>
          </p:cNvPr>
          <p:cNvSpPr>
            <a:spLocks xmlns:a="http://schemas.openxmlformats.org/drawingml/2006/main" noGrp="1"/>
          </p:cNvSpPr>
          <p:nvPr/>
        </p:nvSpPr>
        <p:spPr>
          <a:xfrm xmlns:a="http://schemas.openxmlformats.org/drawingml/2006/main">
            <a:off x="2038350" y="1733550"/>
            <a:ext cx="1409700" cy="457200"/>
          </a:xfrm>
          <a:prstGeom xmlns:a="http://schemas.openxmlformats.org/drawingml/2006/main" prst="rect">
            <a:avLst/>
          </a:prstGeom>
          <a:solidFill xmlns:a="http://schemas.openxmlformats.org/drawingml/2006/main">
            <a:srgbClr val="17302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91CEE1B-5386-4398-A123-992267F76BE6}"/>
              </a:ext>
            </a:extLst>
          </p:cNvPr>
          <p:cNvSpPr>
            <a:spLocks xmlns:a="http://schemas.openxmlformats.org/drawingml/2006/main" noGrp="1"/>
          </p:cNvSpPr>
          <p:nvPr/>
        </p:nvSpPr>
        <p:spPr>
          <a:xfrm xmlns:a="http://schemas.openxmlformats.org/drawingml/2006/main">
            <a:off x="2124075" y="1762125"/>
            <a:ext cx="1238250" cy="3810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API</a:t>
            </a:r>
          </a:p>
        </p:txBody>
      </p:sp>
      <p:sp>
        <p:nvSpPr>
          <p:cNvPr id="8" name="">
            <a:extLst xmlns:a="http://schemas.openxmlformats.org/drawingml/2006/main">
              <a:ext uri="{FF2B5EF4-FFF2-40B4-BE49-F238E27FC236}">
                <a16:creationId xmlns:a16="http://schemas.microsoft.com/office/drawing/2014/main" id="{AFB0836F-FA78-43E3-A70F-58367C605F2B}"/>
              </a:ext>
            </a:extLst>
          </p:cNvPr>
          <p:cNvSpPr>
            <a:spLocks xmlns:a="http://schemas.openxmlformats.org/drawingml/2006/main" noGrp="1"/>
          </p:cNvSpPr>
          <p:nvPr/>
        </p:nvSpPr>
        <p:spPr>
          <a:xfrm xmlns:a="http://schemas.openxmlformats.org/drawingml/2006/main">
            <a:off x="2743200" y="2228850"/>
            <a:ext cx="0" cy="3886200"/>
          </a:xfrm>
          <a:prstGeom xmlns:a="http://schemas.openxmlformats.org/drawingml/2006/main" prst="line">
            <a:avLst/>
          </a:prstGeom>
          <a:noFill xmlns:a="http://schemas.openxmlformats.org/drawingml/2006/main"/>
          <a:ln xmlns:a="http://schemas.openxmlformats.org/drawingml/2006/main" w="9525">
            <a:solidFill>
              <a:srgbClr val="B7C9C0"/>
            </a:solidFill>
            <a:prstDash val="dash"/>
          </a:ln>
        </p:spPr>
      </p:sp>
      <p:sp>
        <p:nvSpPr>
          <p:cNvPr id="9" name="">
            <a:extLst xmlns:a="http://schemas.openxmlformats.org/drawingml/2006/main">
              <a:ext uri="{FF2B5EF4-FFF2-40B4-BE49-F238E27FC236}">
                <a16:creationId xmlns:a16="http://schemas.microsoft.com/office/drawing/2014/main" id="{61F83E31-5AE6-4766-BA5B-A86B5009D23D}"/>
              </a:ext>
            </a:extLst>
          </p:cNvPr>
          <p:cNvSpPr>
            <a:spLocks xmlns:a="http://schemas.openxmlformats.org/drawingml/2006/main" noGrp="1"/>
          </p:cNvSpPr>
          <p:nvPr/>
        </p:nvSpPr>
        <p:spPr>
          <a:xfrm xmlns:a="http://schemas.openxmlformats.org/drawingml/2006/main">
            <a:off x="3638550" y="1733550"/>
            <a:ext cx="1409700" cy="457200"/>
          </a:xfrm>
          <a:prstGeom xmlns:a="http://schemas.openxmlformats.org/drawingml/2006/main" prst="rect">
            <a:avLst/>
          </a:prstGeom>
          <a:solidFill xmlns:a="http://schemas.openxmlformats.org/drawingml/2006/main">
            <a:srgbClr val="17302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1EBD49-C960-4E3E-85EE-65B78DD82397}"/>
              </a:ext>
            </a:extLst>
          </p:cNvPr>
          <p:cNvSpPr>
            <a:spLocks xmlns:a="http://schemas.openxmlformats.org/drawingml/2006/main" noGrp="1"/>
          </p:cNvSpPr>
          <p:nvPr/>
        </p:nvSpPr>
        <p:spPr>
          <a:xfrm xmlns:a="http://schemas.openxmlformats.org/drawingml/2006/main">
            <a:off x="3724275" y="1762125"/>
            <a:ext cx="1238250" cy="3810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Compiler</a:t>
            </a:r>
          </a:p>
        </p:txBody>
      </p:sp>
      <p:sp>
        <p:nvSpPr>
          <p:cNvPr id="11" name="">
            <a:extLst xmlns:a="http://schemas.openxmlformats.org/drawingml/2006/main">
              <a:ext uri="{FF2B5EF4-FFF2-40B4-BE49-F238E27FC236}">
                <a16:creationId xmlns:a16="http://schemas.microsoft.com/office/drawing/2014/main" id="{D5A98EC1-9307-4021-A1BE-57773027CF23}"/>
              </a:ext>
            </a:extLst>
          </p:cNvPr>
          <p:cNvSpPr>
            <a:spLocks xmlns:a="http://schemas.openxmlformats.org/drawingml/2006/main" noGrp="1"/>
          </p:cNvSpPr>
          <p:nvPr/>
        </p:nvSpPr>
        <p:spPr>
          <a:xfrm xmlns:a="http://schemas.openxmlformats.org/drawingml/2006/main">
            <a:off x="4343400" y="2228850"/>
            <a:ext cx="0" cy="3886200"/>
          </a:xfrm>
          <a:prstGeom xmlns:a="http://schemas.openxmlformats.org/drawingml/2006/main" prst="line">
            <a:avLst/>
          </a:prstGeom>
          <a:noFill xmlns:a="http://schemas.openxmlformats.org/drawingml/2006/main"/>
          <a:ln xmlns:a="http://schemas.openxmlformats.org/drawingml/2006/main" w="9525">
            <a:solidFill>
              <a:srgbClr val="B7C9C0"/>
            </a:solidFill>
            <a:prstDash val="dash"/>
          </a:ln>
        </p:spPr>
      </p:sp>
      <p:sp>
        <p:nvSpPr>
          <p:cNvPr id="12" name="">
            <a:extLst xmlns:a="http://schemas.openxmlformats.org/drawingml/2006/main">
              <a:ext uri="{FF2B5EF4-FFF2-40B4-BE49-F238E27FC236}">
                <a16:creationId xmlns:a16="http://schemas.microsoft.com/office/drawing/2014/main" id="{A6EB3065-180A-436B-9181-D2370EAD8DEA}"/>
              </a:ext>
            </a:extLst>
          </p:cNvPr>
          <p:cNvSpPr>
            <a:spLocks xmlns:a="http://schemas.openxmlformats.org/drawingml/2006/main" noGrp="1"/>
          </p:cNvSpPr>
          <p:nvPr/>
        </p:nvSpPr>
        <p:spPr>
          <a:xfrm xmlns:a="http://schemas.openxmlformats.org/drawingml/2006/main">
            <a:off x="5238750" y="1733550"/>
            <a:ext cx="1409700" cy="457200"/>
          </a:xfrm>
          <a:prstGeom xmlns:a="http://schemas.openxmlformats.org/drawingml/2006/main" prst="rect">
            <a:avLst/>
          </a:prstGeom>
          <a:solidFill xmlns:a="http://schemas.openxmlformats.org/drawingml/2006/main">
            <a:srgbClr val="17302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931D3D-71FB-459B-B4AE-8C9BBCF004E9}"/>
              </a:ext>
            </a:extLst>
          </p:cNvPr>
          <p:cNvSpPr>
            <a:spLocks xmlns:a="http://schemas.openxmlformats.org/drawingml/2006/main" noGrp="1"/>
          </p:cNvSpPr>
          <p:nvPr/>
        </p:nvSpPr>
        <p:spPr>
          <a:xfrm xmlns:a="http://schemas.openxmlformats.org/drawingml/2006/main">
            <a:off x="5324475" y="1762125"/>
            <a:ext cx="1238250" cy="3810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Policy</a:t>
            </a:r>
          </a:p>
        </p:txBody>
      </p:sp>
      <p:sp>
        <p:nvSpPr>
          <p:cNvPr id="14" name="">
            <a:extLst xmlns:a="http://schemas.openxmlformats.org/drawingml/2006/main">
              <a:ext uri="{FF2B5EF4-FFF2-40B4-BE49-F238E27FC236}">
                <a16:creationId xmlns:a16="http://schemas.microsoft.com/office/drawing/2014/main" id="{451B15D7-17D7-4ACE-AFFB-F87401D63FA0}"/>
              </a:ext>
            </a:extLst>
          </p:cNvPr>
          <p:cNvSpPr>
            <a:spLocks xmlns:a="http://schemas.openxmlformats.org/drawingml/2006/main" noGrp="1"/>
          </p:cNvSpPr>
          <p:nvPr/>
        </p:nvSpPr>
        <p:spPr>
          <a:xfrm xmlns:a="http://schemas.openxmlformats.org/drawingml/2006/main">
            <a:off x="5943600" y="2228850"/>
            <a:ext cx="0" cy="3886200"/>
          </a:xfrm>
          <a:prstGeom xmlns:a="http://schemas.openxmlformats.org/drawingml/2006/main" prst="line">
            <a:avLst/>
          </a:prstGeom>
          <a:noFill xmlns:a="http://schemas.openxmlformats.org/drawingml/2006/main"/>
          <a:ln xmlns:a="http://schemas.openxmlformats.org/drawingml/2006/main" w="9525">
            <a:solidFill>
              <a:srgbClr val="B7C9C0"/>
            </a:solidFill>
            <a:prstDash val="dash"/>
          </a:ln>
        </p:spPr>
      </p:sp>
      <p:sp>
        <p:nvSpPr>
          <p:cNvPr id="15" name="">
            <a:extLst xmlns:a="http://schemas.openxmlformats.org/drawingml/2006/main">
              <a:ext uri="{FF2B5EF4-FFF2-40B4-BE49-F238E27FC236}">
                <a16:creationId xmlns:a16="http://schemas.microsoft.com/office/drawing/2014/main" id="{69C44769-89F5-4BC4-B5A2-8A2172AB3F4E}"/>
              </a:ext>
            </a:extLst>
          </p:cNvPr>
          <p:cNvSpPr>
            <a:spLocks xmlns:a="http://schemas.openxmlformats.org/drawingml/2006/main" noGrp="1"/>
          </p:cNvSpPr>
          <p:nvPr/>
        </p:nvSpPr>
        <p:spPr>
          <a:xfrm xmlns:a="http://schemas.openxmlformats.org/drawingml/2006/main">
            <a:off x="6838950" y="1733550"/>
            <a:ext cx="1409700" cy="457200"/>
          </a:xfrm>
          <a:prstGeom xmlns:a="http://schemas.openxmlformats.org/drawingml/2006/main" prst="rect">
            <a:avLst/>
          </a:prstGeom>
          <a:solidFill xmlns:a="http://schemas.openxmlformats.org/drawingml/2006/main">
            <a:srgbClr val="17302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9F9BE7-EE7E-4858-B2A1-AAB24AB8ED57}"/>
              </a:ext>
            </a:extLst>
          </p:cNvPr>
          <p:cNvSpPr>
            <a:spLocks xmlns:a="http://schemas.openxmlformats.org/drawingml/2006/main" noGrp="1"/>
          </p:cNvSpPr>
          <p:nvPr/>
        </p:nvSpPr>
        <p:spPr>
          <a:xfrm xmlns:a="http://schemas.openxmlformats.org/drawingml/2006/main">
            <a:off x="6924675" y="1762125"/>
            <a:ext cx="1238250" cy="3810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Broker</a:t>
            </a:r>
          </a:p>
        </p:txBody>
      </p:sp>
      <p:sp>
        <p:nvSpPr>
          <p:cNvPr id="17" name="">
            <a:extLst xmlns:a="http://schemas.openxmlformats.org/drawingml/2006/main">
              <a:ext uri="{FF2B5EF4-FFF2-40B4-BE49-F238E27FC236}">
                <a16:creationId xmlns:a16="http://schemas.microsoft.com/office/drawing/2014/main" id="{B85956AD-C14C-4278-8643-7DAD7BCF68F8}"/>
              </a:ext>
            </a:extLst>
          </p:cNvPr>
          <p:cNvSpPr>
            <a:spLocks xmlns:a="http://schemas.openxmlformats.org/drawingml/2006/main" noGrp="1"/>
          </p:cNvSpPr>
          <p:nvPr/>
        </p:nvSpPr>
        <p:spPr>
          <a:xfrm xmlns:a="http://schemas.openxmlformats.org/drawingml/2006/main">
            <a:off x="7543800" y="2228850"/>
            <a:ext cx="0" cy="3886200"/>
          </a:xfrm>
          <a:prstGeom xmlns:a="http://schemas.openxmlformats.org/drawingml/2006/main" prst="line">
            <a:avLst/>
          </a:prstGeom>
          <a:noFill xmlns:a="http://schemas.openxmlformats.org/drawingml/2006/main"/>
          <a:ln xmlns:a="http://schemas.openxmlformats.org/drawingml/2006/main" w="9525">
            <a:solidFill>
              <a:srgbClr val="B7C9C0"/>
            </a:solidFill>
            <a:prstDash val="dash"/>
          </a:ln>
        </p:spPr>
      </p:sp>
      <p:sp>
        <p:nvSpPr>
          <p:cNvPr id="18" name="">
            <a:extLst xmlns:a="http://schemas.openxmlformats.org/drawingml/2006/main">
              <a:ext uri="{FF2B5EF4-FFF2-40B4-BE49-F238E27FC236}">
                <a16:creationId xmlns:a16="http://schemas.microsoft.com/office/drawing/2014/main" id="{0B7A6417-9402-4AD0-8BC6-75EFC84EC033}"/>
              </a:ext>
            </a:extLst>
          </p:cNvPr>
          <p:cNvSpPr>
            <a:spLocks xmlns:a="http://schemas.openxmlformats.org/drawingml/2006/main" noGrp="1"/>
          </p:cNvSpPr>
          <p:nvPr/>
        </p:nvSpPr>
        <p:spPr>
          <a:xfrm xmlns:a="http://schemas.openxmlformats.org/drawingml/2006/main">
            <a:off x="8439150" y="1733550"/>
            <a:ext cx="1409700" cy="457200"/>
          </a:xfrm>
          <a:prstGeom xmlns:a="http://schemas.openxmlformats.org/drawingml/2006/main" prst="rect">
            <a:avLst/>
          </a:prstGeom>
          <a:solidFill xmlns:a="http://schemas.openxmlformats.org/drawingml/2006/main">
            <a:srgbClr val="17302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4F9DC6D-DD19-4208-8761-EC9697FF0DB0}"/>
              </a:ext>
            </a:extLst>
          </p:cNvPr>
          <p:cNvSpPr>
            <a:spLocks xmlns:a="http://schemas.openxmlformats.org/drawingml/2006/main" noGrp="1"/>
          </p:cNvSpPr>
          <p:nvPr/>
        </p:nvSpPr>
        <p:spPr>
          <a:xfrm xmlns:a="http://schemas.openxmlformats.org/drawingml/2006/main">
            <a:off x="8524875" y="1762125"/>
            <a:ext cx="1238250" cy="3810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Browser</a:t>
            </a:r>
          </a:p>
        </p:txBody>
      </p:sp>
      <p:sp>
        <p:nvSpPr>
          <p:cNvPr id="20" name="">
            <a:extLst xmlns:a="http://schemas.openxmlformats.org/drawingml/2006/main">
              <a:ext uri="{FF2B5EF4-FFF2-40B4-BE49-F238E27FC236}">
                <a16:creationId xmlns:a16="http://schemas.microsoft.com/office/drawing/2014/main" id="{4C882BF9-0C61-4690-B6A8-659AF40E3489}"/>
              </a:ext>
            </a:extLst>
          </p:cNvPr>
          <p:cNvSpPr>
            <a:spLocks xmlns:a="http://schemas.openxmlformats.org/drawingml/2006/main" noGrp="1"/>
          </p:cNvSpPr>
          <p:nvPr/>
        </p:nvSpPr>
        <p:spPr>
          <a:xfrm xmlns:a="http://schemas.openxmlformats.org/drawingml/2006/main">
            <a:off x="9144000" y="2228850"/>
            <a:ext cx="0" cy="3886200"/>
          </a:xfrm>
          <a:prstGeom xmlns:a="http://schemas.openxmlformats.org/drawingml/2006/main" prst="line">
            <a:avLst/>
          </a:prstGeom>
          <a:noFill xmlns:a="http://schemas.openxmlformats.org/drawingml/2006/main"/>
          <a:ln xmlns:a="http://schemas.openxmlformats.org/drawingml/2006/main" w="9525">
            <a:solidFill>
              <a:srgbClr val="B7C9C0"/>
            </a:solidFill>
            <a:prstDash val="dash"/>
          </a:ln>
        </p:spPr>
      </p:sp>
      <p:sp>
        <p:nvSpPr>
          <p:cNvPr id="21" name="">
            <a:extLst xmlns:a="http://schemas.openxmlformats.org/drawingml/2006/main">
              <a:ext uri="{FF2B5EF4-FFF2-40B4-BE49-F238E27FC236}">
                <a16:creationId xmlns:a16="http://schemas.microsoft.com/office/drawing/2014/main" id="{A7B139F6-F519-4AF8-91F5-FAEA4F9D9661}"/>
              </a:ext>
            </a:extLst>
          </p:cNvPr>
          <p:cNvSpPr>
            <a:spLocks xmlns:a="http://schemas.openxmlformats.org/drawingml/2006/main" noGrp="1"/>
          </p:cNvSpPr>
          <p:nvPr/>
        </p:nvSpPr>
        <p:spPr>
          <a:xfrm xmlns:a="http://schemas.openxmlformats.org/drawingml/2006/main">
            <a:off x="10039350" y="1733550"/>
            <a:ext cx="1409700" cy="457200"/>
          </a:xfrm>
          <a:prstGeom xmlns:a="http://schemas.openxmlformats.org/drawingml/2006/main" prst="rect">
            <a:avLst/>
          </a:prstGeom>
          <a:solidFill xmlns:a="http://schemas.openxmlformats.org/drawingml/2006/main">
            <a:srgbClr val="17302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2FD2278-C218-4AD5-A713-3D31693D6944}"/>
              </a:ext>
            </a:extLst>
          </p:cNvPr>
          <p:cNvSpPr>
            <a:spLocks xmlns:a="http://schemas.openxmlformats.org/drawingml/2006/main" noGrp="1"/>
          </p:cNvSpPr>
          <p:nvPr/>
        </p:nvSpPr>
        <p:spPr>
          <a:xfrm xmlns:a="http://schemas.openxmlformats.org/drawingml/2006/main">
            <a:off x="10125075" y="1762125"/>
            <a:ext cx="1238250" cy="3810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Provider</a:t>
            </a:r>
          </a:p>
        </p:txBody>
      </p:sp>
      <p:sp>
        <p:nvSpPr>
          <p:cNvPr id="23" name="">
            <a:extLst xmlns:a="http://schemas.openxmlformats.org/drawingml/2006/main">
              <a:ext uri="{FF2B5EF4-FFF2-40B4-BE49-F238E27FC236}">
                <a16:creationId xmlns:a16="http://schemas.microsoft.com/office/drawing/2014/main" id="{CD986393-BDAD-4C65-B3B5-06BF95379B63}"/>
              </a:ext>
            </a:extLst>
          </p:cNvPr>
          <p:cNvSpPr>
            <a:spLocks xmlns:a="http://schemas.openxmlformats.org/drawingml/2006/main" noGrp="1"/>
          </p:cNvSpPr>
          <p:nvPr/>
        </p:nvSpPr>
        <p:spPr>
          <a:xfrm xmlns:a="http://schemas.openxmlformats.org/drawingml/2006/main">
            <a:off x="10744200" y="2228850"/>
            <a:ext cx="0" cy="3886200"/>
          </a:xfrm>
          <a:prstGeom xmlns:a="http://schemas.openxmlformats.org/drawingml/2006/main" prst="line">
            <a:avLst/>
          </a:prstGeom>
          <a:noFill xmlns:a="http://schemas.openxmlformats.org/drawingml/2006/main"/>
          <a:ln xmlns:a="http://schemas.openxmlformats.org/drawingml/2006/main" w="9525">
            <a:solidFill>
              <a:srgbClr val="B7C9C0"/>
            </a:solidFill>
            <a:prstDash val="dash"/>
          </a:ln>
        </p:spPr>
      </p:sp>
      <p:sp>
        <p:nvSpPr>
          <p:cNvPr id="60" name="">
            <a:extLst xmlns:a="http://schemas.openxmlformats.org/drawingml/2006/main">
              <a:ext uri="{FF2B5EF4-FFF2-40B4-BE49-F238E27FC236}">
                <a16:creationId xmlns:a16="http://schemas.microsoft.com/office/drawing/2014/main" id="{6DAA9B5E-0DB9-412B-8A3D-01B8BC37AAF5}"/>
              </a:ext>
            </a:extLst>
          </p:cNvPr>
          <p:cNvSpPr>
            <a:spLocks xmlns:a="http://schemas.openxmlformats.org/drawingml/2006/main" noGrp="1"/>
          </p:cNvSpPr>
          <p:nvPr/>
        </p:nvSpPr>
        <p:spPr>
          <a:xfrm xmlns:a="http://schemas.openxmlformats.org/drawingml/2006/main">
            <a:off x="609600" y="6210300"/>
            <a:ext cx="10972800" cy="5715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500" b="0">
                <a:solidFill>
                  <a:srgbClr val="53645D"/>
                </a:solidFill>
                <a:latin typeface="Helvetica Neue"/>
                <a:ea typeface="Helvetica Neue"/>
                <a:cs typeface="Helvetica Neue"/>
              </a:defRPr>
            </a:pPr>
            <a:r>
              <a:rPr sz="1500" b="0">
                <a:solidFill>
                  <a:srgbClr val="53645D"/>
                </a:solidFill>
                <a:latin typeface="Helvetica Neue"/>
                <a:ea typeface="Helvetica Neue"/>
                <a:cs typeface="Helvetica Neue"/>
              </a:rPr>
              <a:t>9a: writes. 9b–10: signing, returned through the compiler and API to the browser.</a:t>
            </a:r>
          </a:p>
          <a:p>
            <a:pPr>
              <a:buNone/>
              <a:defRPr sz="1500" b="0">
                <a:solidFill>
                  <a:srgbClr val="53645D"/>
                </a:solidFill>
                <a:latin typeface="Helvetica Neue"/>
                <a:ea typeface="Helvetica Neue"/>
                <a:cs typeface="Helvetica Neue"/>
              </a:defRPr>
            </a:pPr>
            <a:r>
              <a:rPr sz="1500" b="0">
                <a:solidFill>
                  <a:srgbClr val="53645D"/>
                </a:solidFill>
                <a:latin typeface="Helvetica Neue"/>
                <a:ea typeface="Helvetica Neue"/>
                <a:cs typeface="Helvetica Neue"/>
              </a:rPr>
              <a:t>Live checks repeat before every provider request or signature. Other responses are omitted.</a:t>
            </a:r>
          </a:p>
        </p:txBody>
      </p:sp>
      <p:cxnSp>
        <p:nvCxnSpPr>
          <p:cNvPr id="500" name="500"/>
          <p:cNvCxnSpPr/>
          <p:nvPr/>
        </p:nvCxnSpPr>
        <p:spPr>
          <a:xfrm xmlns:a="http://schemas.openxmlformats.org/drawingml/2006/main">
            <a:off x="1143000" y="2571750"/>
            <a:ext cx="16002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00" name=""/>
          <p:cNvSpPr>
            <a:spLocks xmlns:a="http://schemas.openxmlformats.org/drawingml/2006/main" noGrp="1"/>
          </p:cNvSpPr>
          <p:nvPr/>
        </p:nvSpPr>
        <p:spPr>
          <a:xfrm xmlns:a="http://schemas.openxmlformats.org/drawingml/2006/main">
            <a:off x="1238250" y="2314575"/>
            <a:ext cx="14668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1  Run</a:t>
            </a:r>
          </a:p>
        </p:txBody>
      </p:sp>
      <p:cxnSp>
        <p:nvCxnSpPr>
          <p:cNvPr id="501" name="501"/>
          <p:cNvCxnSpPr/>
          <p:nvPr/>
        </p:nvCxnSpPr>
        <p:spPr>
          <a:xfrm xmlns:a="http://schemas.openxmlformats.org/drawingml/2006/main">
            <a:off x="2743200" y="2914650"/>
            <a:ext cx="32004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01" name=""/>
          <p:cNvSpPr>
            <a:spLocks xmlns:a="http://schemas.openxmlformats.org/drawingml/2006/main" noGrp="1"/>
          </p:cNvSpPr>
          <p:nvPr/>
        </p:nvSpPr>
        <p:spPr>
          <a:xfrm xmlns:a="http://schemas.openxmlformats.org/drawingml/2006/main">
            <a:off x="2838450" y="2657475"/>
            <a:ext cx="30670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2  Allocate invocation</a:t>
            </a:r>
          </a:p>
        </p:txBody>
      </p:sp>
      <p:cxnSp>
        <p:nvCxnSpPr>
          <p:cNvPr id="502" name="502"/>
          <p:cNvCxnSpPr/>
          <p:nvPr/>
        </p:nvCxnSpPr>
        <p:spPr>
          <a:xfrm xmlns:a="http://schemas.openxmlformats.org/drawingml/2006/main">
            <a:off x="2743200" y="3257550"/>
            <a:ext cx="16002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02" name=""/>
          <p:cNvSpPr>
            <a:spLocks xmlns:a="http://schemas.openxmlformats.org/drawingml/2006/main" noGrp="1"/>
          </p:cNvSpPr>
          <p:nvPr/>
        </p:nvSpPr>
        <p:spPr>
          <a:xfrm xmlns:a="http://schemas.openxmlformats.org/drawingml/2006/main">
            <a:off x="2838450" y="3000375"/>
            <a:ext cx="14668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3  Preflight</a:t>
            </a:r>
          </a:p>
        </p:txBody>
      </p:sp>
      <p:cxnSp>
        <p:nvCxnSpPr>
          <p:cNvPr id="503" name="503"/>
          <p:cNvCxnSpPr/>
          <p:nvPr/>
        </p:nvCxnSpPr>
        <p:spPr>
          <a:xfrm xmlns:a="http://schemas.openxmlformats.org/drawingml/2006/main">
            <a:off x="2743200" y="3600450"/>
            <a:ext cx="32004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03" name=""/>
          <p:cNvSpPr>
            <a:spLocks xmlns:a="http://schemas.openxmlformats.org/drawingml/2006/main" noGrp="1"/>
          </p:cNvSpPr>
          <p:nvPr/>
        </p:nvSpPr>
        <p:spPr>
          <a:xfrm xmlns:a="http://schemas.openxmlformats.org/drawingml/2006/main">
            <a:off x="2838450" y="3343275"/>
            <a:ext cx="30670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4  Admit full chain</a:t>
            </a:r>
          </a:p>
        </p:txBody>
      </p:sp>
      <p:cxnSp>
        <p:nvCxnSpPr>
          <p:cNvPr id="504" name="504"/>
          <p:cNvCxnSpPr/>
          <p:nvPr/>
        </p:nvCxnSpPr>
        <p:spPr>
          <a:xfrm xmlns:a="http://schemas.openxmlformats.org/drawingml/2006/main">
            <a:off x="2743200" y="3943350"/>
            <a:ext cx="16002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04" name=""/>
          <p:cNvSpPr>
            <a:spLocks xmlns:a="http://schemas.openxmlformats.org/drawingml/2006/main" noGrp="1"/>
          </p:cNvSpPr>
          <p:nvPr/>
        </p:nvSpPr>
        <p:spPr>
          <a:xfrm xmlns:a="http://schemas.openxmlformats.org/drawingml/2006/main">
            <a:off x="2838450" y="3686175"/>
            <a:ext cx="14668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5  Run stages</a:t>
            </a:r>
          </a:p>
        </p:txBody>
      </p:sp>
      <p:cxnSp>
        <p:nvCxnSpPr>
          <p:cNvPr id="505" name="505"/>
          <p:cNvCxnSpPr/>
          <p:nvPr/>
        </p:nvCxnSpPr>
        <p:spPr>
          <a:xfrm xmlns:a="http://schemas.openxmlformats.org/drawingml/2006/main">
            <a:off x="4343400" y="4286250"/>
            <a:ext cx="16002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05" name=""/>
          <p:cNvSpPr>
            <a:spLocks xmlns:a="http://schemas.openxmlformats.org/drawingml/2006/main" noGrp="1"/>
          </p:cNvSpPr>
          <p:nvPr/>
        </p:nvSpPr>
        <p:spPr>
          <a:xfrm xmlns:a="http://schemas.openxmlformats.org/drawingml/2006/main">
            <a:off x="4438650" y="4029075"/>
            <a:ext cx="14668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6  Mint token</a:t>
            </a:r>
          </a:p>
        </p:txBody>
      </p:sp>
      <p:cxnSp>
        <p:nvCxnSpPr>
          <p:cNvPr id="506" name="506"/>
          <p:cNvCxnSpPr/>
          <p:nvPr/>
        </p:nvCxnSpPr>
        <p:spPr>
          <a:xfrm xmlns:a="http://schemas.openxmlformats.org/drawingml/2006/main">
            <a:off x="4343400" y="4629150"/>
            <a:ext cx="32004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06" name=""/>
          <p:cNvSpPr>
            <a:spLocks xmlns:a="http://schemas.openxmlformats.org/drawingml/2006/main" noGrp="1"/>
          </p:cNvSpPr>
          <p:nvPr/>
        </p:nvSpPr>
        <p:spPr>
          <a:xfrm xmlns:a="http://schemas.openxmlformats.org/drawingml/2006/main">
            <a:off x="4438650" y="4371975"/>
            <a:ext cx="30670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7  Token + payload</a:t>
            </a:r>
          </a:p>
        </p:txBody>
      </p:sp>
      <p:cxnSp>
        <p:nvCxnSpPr>
          <p:cNvPr id="507" name="507"/>
          <p:cNvCxnSpPr/>
          <p:nvPr/>
        </p:nvCxnSpPr>
        <p:spPr>
          <a:xfrm xmlns:a="http://schemas.openxmlformats.org/drawingml/2006/main">
            <a:off x="5943600" y="4972050"/>
            <a:ext cx="1600200" cy="0"/>
          </a:xfrm>
          <a:prstGeom xmlns:a="http://schemas.openxmlformats.org/drawingml/2006/main" prst="straightConnector1">
            <a:avLst/>
          </a:prstGeom>
          <a:ln xmlns:a="http://schemas.openxmlformats.org/drawingml/2006/main" w="19050">
            <a:solidFill>
              <a:srgbClr val="117C63"/>
            </a:solidFill>
            <a:headEnd type="triangle" w="med" len="med"/>
          </a:ln>
        </p:spPr>
      </p:cxnSp>
      <p:sp>
        <p:nvSpPr>
          <p:cNvPr id="607" name=""/>
          <p:cNvSpPr>
            <a:spLocks xmlns:a="http://schemas.openxmlformats.org/drawingml/2006/main" noGrp="1"/>
          </p:cNvSpPr>
          <p:nvPr/>
        </p:nvSpPr>
        <p:spPr>
          <a:xfrm xmlns:a="http://schemas.openxmlformats.org/drawingml/2006/main">
            <a:off x="6038850" y="4714875"/>
            <a:ext cx="14668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8  Live check</a:t>
            </a:r>
          </a:p>
        </p:txBody>
      </p:sp>
      <p:cxnSp>
        <p:nvCxnSpPr>
          <p:cNvPr id="508" name="508"/>
          <p:cNvCxnSpPr/>
          <p:nvPr/>
        </p:nvCxnSpPr>
        <p:spPr>
          <a:xfrm xmlns:a="http://schemas.openxmlformats.org/drawingml/2006/main">
            <a:off x="7543800" y="5314950"/>
            <a:ext cx="32004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08" name=""/>
          <p:cNvSpPr>
            <a:spLocks xmlns:a="http://schemas.openxmlformats.org/drawingml/2006/main" noGrp="1"/>
          </p:cNvSpPr>
          <p:nvPr/>
        </p:nvSpPr>
        <p:spPr>
          <a:xfrm xmlns:a="http://schemas.openxmlformats.org/drawingml/2006/main">
            <a:off x="7639050" y="5057775"/>
            <a:ext cx="30670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9a  Provider write</a:t>
            </a:r>
          </a:p>
        </p:txBody>
      </p:sp>
      <p:cxnSp>
        <p:nvCxnSpPr>
          <p:cNvPr id="509" name="509"/>
          <p:cNvCxnSpPr/>
          <p:nvPr/>
        </p:nvCxnSpPr>
        <p:spPr>
          <a:xfrm xmlns:a="http://schemas.openxmlformats.org/drawingml/2006/main">
            <a:off x="7543800" y="5657850"/>
            <a:ext cx="1600200" cy="0"/>
          </a:xfrm>
          <a:prstGeom xmlns:a="http://schemas.openxmlformats.org/drawingml/2006/main" prst="straightConnector1">
            <a:avLst/>
          </a:prstGeom>
          <a:ln xmlns:a="http://schemas.openxmlformats.org/drawingml/2006/main" w="19050">
            <a:solidFill>
              <a:srgbClr val="117C63"/>
            </a:solidFill>
            <a:prstDash val="dash"/>
            <a:tailEnd type="triangle" w="med" len="med"/>
          </a:ln>
        </p:spPr>
      </p:cxnSp>
      <p:sp>
        <p:nvSpPr>
          <p:cNvPr id="609" name=""/>
          <p:cNvSpPr>
            <a:spLocks xmlns:a="http://schemas.openxmlformats.org/drawingml/2006/main" noGrp="1"/>
          </p:cNvSpPr>
          <p:nvPr/>
        </p:nvSpPr>
        <p:spPr>
          <a:xfrm xmlns:a="http://schemas.openxmlformats.org/drawingml/2006/main">
            <a:off x="7639050" y="5400675"/>
            <a:ext cx="14668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9b  Signed data</a:t>
            </a:r>
          </a:p>
        </p:txBody>
      </p:sp>
      <p:cxnSp>
        <p:nvCxnSpPr>
          <p:cNvPr id="510" name="510"/>
          <p:cNvCxnSpPr/>
          <p:nvPr/>
        </p:nvCxnSpPr>
        <p:spPr>
          <a:xfrm xmlns:a="http://schemas.openxmlformats.org/drawingml/2006/main">
            <a:off x="9144000" y="6000750"/>
            <a:ext cx="1600200" cy="0"/>
          </a:xfrm>
          <a:prstGeom xmlns:a="http://schemas.openxmlformats.org/drawingml/2006/main" prst="straightConnector1">
            <a:avLst/>
          </a:prstGeom>
          <a:ln xmlns:a="http://schemas.openxmlformats.org/drawingml/2006/main" w="19050">
            <a:solidFill>
              <a:srgbClr val="117C63"/>
            </a:solidFill>
            <a:tailEnd type="triangle" w="med" len="med"/>
          </a:ln>
        </p:spPr>
      </p:cxnSp>
      <p:sp>
        <p:nvSpPr>
          <p:cNvPr id="610" name=""/>
          <p:cNvSpPr>
            <a:spLocks xmlns:a="http://schemas.openxmlformats.org/drawingml/2006/main" noGrp="1"/>
          </p:cNvSpPr>
          <p:nvPr/>
        </p:nvSpPr>
        <p:spPr>
          <a:xfrm xmlns:a="http://schemas.openxmlformats.org/drawingml/2006/main">
            <a:off x="9239250" y="5743575"/>
            <a:ext cx="1466850" cy="2476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lIns="0" rIns="0" tIns="0" bIns="0">
            <a:noAutofit/>
          </a:bodyPr>
          <a:lstStyle/>
          <a:p>
            <a:pPr>
              <a:buNone/>
              <a:defRPr sz="1500" b="0">
                <a:solidFill>
                  <a:srgbClr val="17302B"/>
                </a:solidFill>
                <a:latin typeface="Helvetica Neue"/>
                <a:ea typeface="Helvetica Neue"/>
                <a:cs typeface="Helvetica Neue"/>
              </a:defRPr>
            </a:pPr>
            <a:r>
              <a:rPr sz="1500" b="0">
                <a:solidFill>
                  <a:srgbClr val="17302B"/>
                </a:solidFill>
                <a:latin typeface="Helvetica Neue"/>
                <a:ea typeface="Helvetica Neue"/>
                <a:cs typeface="Helvetica Neue"/>
              </a:rPr>
              <a:t>10  Use request</a:t>
            </a:r>
          </a:p>
        </p:txBody>
      </p:sp>
    </p:spTree>
    <p:extLst>
      <p:ext uri="{BB962C8B-B14F-4D97-AF65-F5344CB8AC3E}">
        <p14:creationId xmlns:p14="http://schemas.microsoft.com/office/powerpoint/2010/main" val="308947880"/>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E9597F6-7383-43A5-A376-3894A677A8F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3300" b="1">
                <a:solidFill>
                  <a:srgbClr val="17302B"/>
                </a:solidFill>
                <a:latin typeface="Helvetica Neue"/>
                <a:ea typeface="Helvetica Neue"/>
                <a:cs typeface="Helvetica Neue"/>
              </a:defRPr>
            </a:pPr>
            <a:r>
              <a:rPr sz="3300" b="1">
                <a:solidFill>
                  <a:srgbClr val="17302B"/>
                </a:solidFill>
                <a:latin typeface="Helvetica Neue"/>
                <a:ea typeface="Helvetica Neue"/>
                <a:cs typeface="Helvetica Neue"/>
              </a:rPr>
              <a:t>How a protected run is authorized</a:t>
            </a:r>
          </a:p>
        </p:txBody>
      </p:sp>
      <p:sp>
        <p:nvSpPr>
          <p:cNvPr id="2" name="">
            <a:extLst xmlns:a="http://schemas.openxmlformats.org/drawingml/2006/main">
              <a:ext uri="{FF2B5EF4-FFF2-40B4-BE49-F238E27FC236}">
                <a16:creationId xmlns:a16="http://schemas.microsoft.com/office/drawing/2014/main" id="{4C041610-A025-47C5-8756-DB3144CD1C11}"/>
              </a:ext>
            </a:extLst>
          </p:cNvPr>
          <p:cNvSpPr>
            <a:spLocks xmlns:a="http://schemas.openxmlformats.org/drawingml/2006/main" noGrp="1"/>
          </p:cNvSpPr>
          <p:nvPr/>
        </p:nvSpPr>
        <p:spPr>
          <a:xfrm xmlns:a="http://schemas.openxmlformats.org/drawingml/2006/main">
            <a:off x="609600" y="16954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17C63"/>
                </a:solidFill>
                <a:latin typeface="Helvetica Neue"/>
                <a:ea typeface="Helvetica Neue"/>
                <a:cs typeface="Helvetica Neue"/>
              </a:defRPr>
            </a:pPr>
            <a:r>
              <a:rPr sz="2550" b="1">
                <a:solidFill>
                  <a:srgbClr val="117C6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396EA76-E4BB-4EE2-BCA7-0B3E1685B2CB}"/>
              </a:ext>
            </a:extLst>
          </p:cNvPr>
          <p:cNvSpPr>
            <a:spLocks xmlns:a="http://schemas.openxmlformats.org/drawingml/2006/main" noGrp="1"/>
          </p:cNvSpPr>
          <p:nvPr/>
        </p:nvSpPr>
        <p:spPr>
          <a:xfrm xmlns:a="http://schemas.openxmlformats.org/drawingml/2006/main">
            <a:off x="1504950" y="1695450"/>
            <a:ext cx="4191000" cy="4381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250" b="1">
                <a:solidFill>
                  <a:srgbClr val="17302B"/>
                </a:solidFill>
                <a:latin typeface="Helvetica Neue"/>
                <a:ea typeface="Helvetica Neue"/>
                <a:cs typeface="Helvetica Neue"/>
              </a:defRPr>
            </a:pPr>
            <a:r>
              <a:rPr sz="2250" b="1">
                <a:solidFill>
                  <a:srgbClr val="17302B"/>
                </a:solidFill>
                <a:latin typeface="Helvetica Neue"/>
                <a:ea typeface="Helvetica Neue"/>
                <a:cs typeface="Helvetica Neue"/>
              </a:rPr>
              <a:t>Bind the invocation</a:t>
            </a:r>
          </a:p>
        </p:txBody>
      </p:sp>
      <p:sp>
        <p:nvSpPr>
          <p:cNvPr id="4" name="">
            <a:extLst xmlns:a="http://schemas.openxmlformats.org/drawingml/2006/main">
              <a:ext uri="{FF2B5EF4-FFF2-40B4-BE49-F238E27FC236}">
                <a16:creationId xmlns:a16="http://schemas.microsoft.com/office/drawing/2014/main" id="{3EA4B59F-D4FC-499D-A684-2CEAD4FE77D8}"/>
              </a:ext>
            </a:extLst>
          </p:cNvPr>
          <p:cNvSpPr>
            <a:spLocks xmlns:a="http://schemas.openxmlformats.org/drawingml/2006/main" noGrp="1"/>
          </p:cNvSpPr>
          <p:nvPr/>
        </p:nvSpPr>
        <p:spPr>
          <a:xfrm xmlns:a="http://schemas.openxmlformats.org/drawingml/2006/main">
            <a:off x="5962650" y="1695450"/>
            <a:ext cx="5505450" cy="8572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025" b="0">
                <a:solidFill>
                  <a:srgbClr val="17302B"/>
                </a:solidFill>
                <a:latin typeface="Helvetica Neue"/>
                <a:ea typeface="Helvetica Neue"/>
                <a:cs typeface="Helvetica Neue"/>
              </a:defRPr>
            </a:pPr>
            <a:r>
              <a:rPr sz="2025" b="0">
                <a:solidFill>
                  <a:srgbClr val="17302B"/>
                </a:solidFill>
                <a:latin typeface="Helvetica Neue"/>
                <a:ea typeface="Helvetica Neue"/>
                <a:cs typeface="Helvetica Neue"/>
              </a:rPr>
              <a:t>The gateway binds the user, connection and retry identity.</a:t>
            </a:r>
          </a:p>
        </p:txBody>
      </p:sp>
      <p:sp>
        <p:nvSpPr>
          <p:cNvPr id="5" name="">
            <a:extLst xmlns:a="http://schemas.openxmlformats.org/drawingml/2006/main">
              <a:ext uri="{FF2B5EF4-FFF2-40B4-BE49-F238E27FC236}">
                <a16:creationId xmlns:a16="http://schemas.microsoft.com/office/drawing/2014/main" id="{19D15BC9-B984-42AF-9B6A-175DC98A1B19}"/>
              </a:ext>
            </a:extLst>
          </p:cNvPr>
          <p:cNvSpPr>
            <a:spLocks xmlns:a="http://schemas.openxmlformats.org/drawingml/2006/main" noGrp="1"/>
          </p:cNvSpPr>
          <p:nvPr/>
        </p:nvSpPr>
        <p:spPr>
          <a:xfrm xmlns:a="http://schemas.openxmlformats.org/drawingml/2006/main">
            <a:off x="609600" y="269557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17C63"/>
                </a:solidFill>
                <a:latin typeface="Helvetica Neue"/>
                <a:ea typeface="Helvetica Neue"/>
                <a:cs typeface="Helvetica Neue"/>
              </a:defRPr>
            </a:pPr>
            <a:r>
              <a:rPr sz="2550" b="1">
                <a:solidFill>
                  <a:srgbClr val="117C63"/>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3D55ECBF-7860-4E87-8E32-93EDAF26E436}"/>
              </a:ext>
            </a:extLst>
          </p:cNvPr>
          <p:cNvSpPr>
            <a:spLocks xmlns:a="http://schemas.openxmlformats.org/drawingml/2006/main" noGrp="1"/>
          </p:cNvSpPr>
          <p:nvPr/>
        </p:nvSpPr>
        <p:spPr>
          <a:xfrm xmlns:a="http://schemas.openxmlformats.org/drawingml/2006/main">
            <a:off x="1504950" y="2695575"/>
            <a:ext cx="4191000" cy="4381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250" b="1">
                <a:solidFill>
                  <a:srgbClr val="17302B"/>
                </a:solidFill>
                <a:latin typeface="Helvetica Neue"/>
                <a:ea typeface="Helvetica Neue"/>
                <a:cs typeface="Helvetica Neue"/>
              </a:defRPr>
            </a:pPr>
            <a:r>
              <a:rPr sz="2250" b="1">
                <a:solidFill>
                  <a:srgbClr val="17302B"/>
                </a:solidFill>
                <a:latin typeface="Helvetica Neue"/>
                <a:ea typeface="Helvetica Neue"/>
                <a:cs typeface="Helvetica Neue"/>
              </a:rPr>
              <a:t>Admit the full chain</a:t>
            </a:r>
          </a:p>
        </p:txBody>
      </p:sp>
      <p:sp>
        <p:nvSpPr>
          <p:cNvPr id="7" name="">
            <a:extLst xmlns:a="http://schemas.openxmlformats.org/drawingml/2006/main">
              <a:ext uri="{FF2B5EF4-FFF2-40B4-BE49-F238E27FC236}">
                <a16:creationId xmlns:a16="http://schemas.microsoft.com/office/drawing/2014/main" id="{444E9874-EA03-4655-B475-A048546CD91A}"/>
              </a:ext>
            </a:extLst>
          </p:cNvPr>
          <p:cNvSpPr>
            <a:spLocks xmlns:a="http://schemas.openxmlformats.org/drawingml/2006/main" noGrp="1"/>
          </p:cNvSpPr>
          <p:nvPr/>
        </p:nvSpPr>
        <p:spPr>
          <a:xfrm xmlns:a="http://schemas.openxmlformats.org/drawingml/2006/main">
            <a:off x="5962650" y="2695575"/>
            <a:ext cx="5505450" cy="8572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025" b="0">
                <a:solidFill>
                  <a:srgbClr val="17302B"/>
                </a:solidFill>
                <a:latin typeface="Helvetica Neue"/>
                <a:ea typeface="Helvetica Neue"/>
                <a:cs typeface="Helvetica Neue"/>
              </a:defRPr>
            </a:pPr>
            <a:r>
              <a:rPr sz="2025" b="0">
                <a:solidFill>
                  <a:srgbClr val="17302B"/>
                </a:solidFill>
                <a:latin typeface="Helvetica Neue"/>
                <a:ea typeface="Helvetica Neue"/>
                <a:cs typeface="Helvetica Neue"/>
              </a:rPr>
              <a:t>Compilers preflight all stages. Policy admits one pinned plan before execution.</a:t>
            </a:r>
          </a:p>
        </p:txBody>
      </p:sp>
      <p:sp>
        <p:nvSpPr>
          <p:cNvPr id="8" name="">
            <a:extLst xmlns:a="http://schemas.openxmlformats.org/drawingml/2006/main">
              <a:ext uri="{FF2B5EF4-FFF2-40B4-BE49-F238E27FC236}">
                <a16:creationId xmlns:a16="http://schemas.microsoft.com/office/drawing/2014/main" id="{7D02FD7A-151A-4CB5-A810-54BF7025F135}"/>
              </a:ext>
            </a:extLst>
          </p:cNvPr>
          <p:cNvSpPr>
            <a:spLocks xmlns:a="http://schemas.openxmlformats.org/drawingml/2006/main" noGrp="1"/>
          </p:cNvSpPr>
          <p:nvPr/>
        </p:nvSpPr>
        <p:spPr>
          <a:xfrm xmlns:a="http://schemas.openxmlformats.org/drawingml/2006/main">
            <a:off x="609600" y="36957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17C63"/>
                </a:solidFill>
                <a:latin typeface="Helvetica Neue"/>
                <a:ea typeface="Helvetica Neue"/>
                <a:cs typeface="Helvetica Neue"/>
              </a:defRPr>
            </a:pPr>
            <a:r>
              <a:rPr sz="2550" b="1">
                <a:solidFill>
                  <a:srgbClr val="117C63"/>
                </a:solidFill>
                <a:latin typeface="Helvetica Neue"/>
                <a:ea typeface="Helvetica Neue"/>
                <a:cs typeface="Helvetica Neue"/>
              </a:rPr>
              <a:t>03</a:t>
            </a:r>
          </a:p>
        </p:txBody>
      </p:sp>
      <p:sp>
        <p:nvSpPr>
          <p:cNvPr id="9" name="">
            <a:extLst xmlns:a="http://schemas.openxmlformats.org/drawingml/2006/main">
              <a:ext uri="{FF2B5EF4-FFF2-40B4-BE49-F238E27FC236}">
                <a16:creationId xmlns:a16="http://schemas.microsoft.com/office/drawing/2014/main" id="{E78D7242-CD9B-40E0-BAB6-2FA3C64E26F2}"/>
              </a:ext>
            </a:extLst>
          </p:cNvPr>
          <p:cNvSpPr>
            <a:spLocks xmlns:a="http://schemas.openxmlformats.org/drawingml/2006/main" noGrp="1"/>
          </p:cNvSpPr>
          <p:nvPr/>
        </p:nvSpPr>
        <p:spPr>
          <a:xfrm xmlns:a="http://schemas.openxmlformats.org/drawingml/2006/main">
            <a:off x="1504950" y="36957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02B"/>
                </a:solidFill>
                <a:latin typeface="Helvetica Neue"/>
                <a:ea typeface="Helvetica Neue"/>
                <a:cs typeface="Helvetica Neue"/>
              </a:defRPr>
            </a:pPr>
            <a:r>
              <a:rPr sz="2250" b="1">
                <a:solidFill>
                  <a:srgbClr val="17302B"/>
                </a:solidFill>
                <a:latin typeface="Helvetica Neue"/>
                <a:ea typeface="Helvetica Neue"/>
                <a:cs typeface="Helvetica Neue"/>
              </a:rPr>
              <a:t>Mint proof for one call</a:t>
            </a:r>
          </a:p>
        </p:txBody>
      </p:sp>
      <p:sp>
        <p:nvSpPr>
          <p:cNvPr id="10" name="">
            <a:extLst xmlns:a="http://schemas.openxmlformats.org/drawingml/2006/main">
              <a:ext uri="{FF2B5EF4-FFF2-40B4-BE49-F238E27FC236}">
                <a16:creationId xmlns:a16="http://schemas.microsoft.com/office/drawing/2014/main" id="{4139131E-4C54-496A-A498-8307D60AB572}"/>
              </a:ext>
            </a:extLst>
          </p:cNvPr>
          <p:cNvSpPr>
            <a:spLocks xmlns:a="http://schemas.openxmlformats.org/drawingml/2006/main" noGrp="1"/>
          </p:cNvSpPr>
          <p:nvPr/>
        </p:nvSpPr>
        <p:spPr>
          <a:xfrm xmlns:a="http://schemas.openxmlformats.org/drawingml/2006/main">
            <a:off x="5962650" y="3695700"/>
            <a:ext cx="5505450" cy="8572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025" b="0">
                <a:solidFill>
                  <a:srgbClr val="17302B"/>
                </a:solidFill>
                <a:latin typeface="Helvetica Neue"/>
                <a:ea typeface="Helvetica Neue"/>
                <a:cs typeface="Helvetica Neue"/>
              </a:defRPr>
            </a:pPr>
            <a:r>
              <a:rPr sz="2025" b="0">
                <a:solidFill>
                  <a:srgbClr val="17302B"/>
                </a:solidFill>
                <a:latin typeface="Helvetica Neue"/>
                <a:ea typeface="Helvetica Neue"/>
                <a:cs typeface="Helvetica Neue"/>
              </a:rPr>
              <a:t>Policy rechecks access and binds a token to the operation and argument digest.</a:t>
            </a:r>
          </a:p>
        </p:txBody>
      </p:sp>
      <p:sp>
        <p:nvSpPr>
          <p:cNvPr id="11" name="">
            <a:extLst xmlns:a="http://schemas.openxmlformats.org/drawingml/2006/main">
              <a:ext uri="{FF2B5EF4-FFF2-40B4-BE49-F238E27FC236}">
                <a16:creationId xmlns:a16="http://schemas.microsoft.com/office/drawing/2014/main" id="{CE55CD08-B572-4016-BAAC-EBF090D60763}"/>
              </a:ext>
            </a:extLst>
          </p:cNvPr>
          <p:cNvSpPr>
            <a:spLocks xmlns:a="http://schemas.openxmlformats.org/drawingml/2006/main" noGrp="1"/>
          </p:cNvSpPr>
          <p:nvPr/>
        </p:nvSpPr>
        <p:spPr>
          <a:xfrm xmlns:a="http://schemas.openxmlformats.org/drawingml/2006/main">
            <a:off x="609600" y="469582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17C63"/>
                </a:solidFill>
                <a:latin typeface="Helvetica Neue"/>
                <a:ea typeface="Helvetica Neue"/>
                <a:cs typeface="Helvetica Neue"/>
              </a:defRPr>
            </a:pPr>
            <a:r>
              <a:rPr sz="2550" b="1">
                <a:solidFill>
                  <a:srgbClr val="117C63"/>
                </a:solidFill>
                <a:latin typeface="Helvetica Neue"/>
                <a:ea typeface="Helvetica Neue"/>
                <a:cs typeface="Helvetica Neue"/>
              </a:rPr>
              <a:t>04</a:t>
            </a:r>
          </a:p>
        </p:txBody>
      </p:sp>
      <p:sp>
        <p:nvSpPr>
          <p:cNvPr id="12" name="">
            <a:extLst xmlns:a="http://schemas.openxmlformats.org/drawingml/2006/main">
              <a:ext uri="{FF2B5EF4-FFF2-40B4-BE49-F238E27FC236}">
                <a16:creationId xmlns:a16="http://schemas.microsoft.com/office/drawing/2014/main" id="{DBCE0E39-8DEF-463F-ABBF-D3871AE8BE80}"/>
              </a:ext>
            </a:extLst>
          </p:cNvPr>
          <p:cNvSpPr>
            <a:spLocks xmlns:a="http://schemas.openxmlformats.org/drawingml/2006/main" noGrp="1"/>
          </p:cNvSpPr>
          <p:nvPr/>
        </p:nvSpPr>
        <p:spPr>
          <a:xfrm xmlns:a="http://schemas.openxmlformats.org/drawingml/2006/main">
            <a:off x="1504950" y="4695825"/>
            <a:ext cx="4476750" cy="4953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250" b="1">
                <a:solidFill>
                  <a:srgbClr val="17302B"/>
                </a:solidFill>
                <a:latin typeface="Helvetica Neue"/>
                <a:ea typeface="Helvetica Neue"/>
                <a:cs typeface="Helvetica Neue"/>
              </a:defRPr>
            </a:pPr>
            <a:r>
              <a:rPr sz="2250" b="1">
                <a:solidFill>
                  <a:srgbClr val="17302B"/>
                </a:solidFill>
                <a:latin typeface="Helvetica Neue"/>
                <a:ea typeface="Helvetica Neue"/>
                <a:cs typeface="Helvetica Neue"/>
              </a:rPr>
              <a:t>Recheck before each effect</a:t>
            </a:r>
          </a:p>
        </p:txBody>
      </p:sp>
      <p:sp>
        <p:nvSpPr>
          <p:cNvPr id="13" name="">
            <a:extLst xmlns:a="http://schemas.openxmlformats.org/drawingml/2006/main">
              <a:ext uri="{FF2B5EF4-FFF2-40B4-BE49-F238E27FC236}">
                <a16:creationId xmlns:a16="http://schemas.microsoft.com/office/drawing/2014/main" id="{DD270EE4-20E1-4407-92BE-AF8377BFDC37}"/>
              </a:ext>
            </a:extLst>
          </p:cNvPr>
          <p:cNvSpPr>
            <a:spLocks xmlns:a="http://schemas.openxmlformats.org/drawingml/2006/main" noGrp="1"/>
          </p:cNvSpPr>
          <p:nvPr/>
        </p:nvSpPr>
        <p:spPr>
          <a:xfrm xmlns:a="http://schemas.openxmlformats.org/drawingml/2006/main">
            <a:off x="5962650" y="4695825"/>
            <a:ext cx="5505450" cy="9144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025" b="0">
                <a:solidFill>
                  <a:srgbClr val="17302B"/>
                </a:solidFill>
                <a:latin typeface="Helvetica Neue"/>
                <a:ea typeface="Helvetica Neue"/>
                <a:cs typeface="Helvetica Neue"/>
              </a:defRPr>
            </a:pPr>
            <a:r>
              <a:rPr sz="2025" b="0">
                <a:solidFill>
                  <a:srgbClr val="17302B"/>
                </a:solidFill>
                <a:latin typeface="Helvetica Neue"/>
                <a:ea typeface="Helvetica Neue"/>
                <a:cs typeface="Helvetica Neue"/>
              </a:rPr>
              <a:t>Broker verifies proof and asks Policy live before each provider request or signature.</a:t>
            </a:r>
          </a:p>
        </p:txBody>
      </p:sp>
      <p:sp>
        <p:nvSpPr>
          <p:cNvPr id="14" name="">
            <a:extLst xmlns:a="http://schemas.openxmlformats.org/drawingml/2006/main">
              <a:ext uri="{FF2B5EF4-FFF2-40B4-BE49-F238E27FC236}">
                <a16:creationId xmlns:a16="http://schemas.microsoft.com/office/drawing/2014/main" id="{2C561353-C2AA-4DF1-9605-1422C26A5363}"/>
              </a:ext>
            </a:extLst>
          </p:cNvPr>
          <p:cNvSpPr>
            <a:spLocks xmlns:a="http://schemas.openxmlformats.org/drawingml/2006/main" noGrp="1"/>
          </p:cNvSpPr>
          <p:nvPr/>
        </p:nvSpPr>
        <p:spPr>
          <a:xfrm xmlns:a="http://schemas.openxmlformats.org/drawingml/2006/main">
            <a:off x="1504950" y="5743575"/>
            <a:ext cx="9858375" cy="9334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00" b="1">
                <a:solidFill>
                  <a:srgbClr val="117C63"/>
                </a:solidFill>
                <a:latin typeface="Helvetica Neue"/>
                <a:ea typeface="Helvetica Neue"/>
                <a:cs typeface="Helvetica Neue"/>
              </a:defRPr>
            </a:pPr>
            <a:r>
              <a:rPr sz="1800" b="1">
                <a:solidFill>
                  <a:srgbClr val="117C63"/>
                </a:solidFill>
                <a:latin typeface="Helvetica Neue"/>
                <a:ea typeface="Helvetica Neue"/>
                <a:cs typeface="Helvetica Neue"/>
              </a:rPr>
              <a:t>Execution tokens expire within 60 seconds and are single-use.</a:t>
            </a:r>
          </a:p>
          <a:p>
            <a:pPr>
              <a:buNone/>
              <a:defRPr sz="1800" b="1">
                <a:solidFill>
                  <a:srgbClr val="117C63"/>
                </a:solidFill>
                <a:latin typeface="Helvetica Neue"/>
                <a:ea typeface="Helvetica Neue"/>
                <a:cs typeface="Helvetica Neue"/>
              </a:defRPr>
            </a:pPr>
            <a:r>
              <a:rPr sz="1800" b="1">
                <a:solidFill>
                  <a:srgbClr val="117C63"/>
                </a:solidFill>
                <a:latin typeface="Helvetica Neue"/>
                <a:ea typeface="Helvetica Neue"/>
                <a:cs typeface="Helvetica Neue"/>
              </a:rPr>
              <a:t>Receipts prevent repeat writes on retries. Outcomes may be partial or uncertain.</a:t>
            </a:r>
          </a:p>
        </p:txBody>
      </p:sp>
    </p:spTree>
    <p:extLst>
      <p:ext uri="{BB962C8B-B14F-4D97-AF65-F5344CB8AC3E}">
        <p14:creationId xmlns:p14="http://schemas.microsoft.com/office/powerpoint/2010/main" val="1696819706"/>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938580-3B26-4209-8FD9-5871F47EB45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3300" b="1">
                <a:solidFill>
                  <a:srgbClr val="17302B"/>
                </a:solidFill>
                <a:latin typeface="Helvetica Neue"/>
                <a:ea typeface="Helvetica Neue"/>
                <a:cs typeface="Helvetica Neue"/>
              </a:defRPr>
            </a:pPr>
            <a:r>
              <a:rPr sz="3300" b="1">
                <a:solidFill>
                  <a:srgbClr val="17302B"/>
                </a:solidFill>
                <a:latin typeface="Helvetica Neue"/>
                <a:ea typeface="Helvetica Neue"/>
                <a:cs typeface="Helvetica Neue"/>
              </a:rPr>
              <a:t>Admission and live authorization</a:t>
            </a:r>
          </a:p>
        </p:txBody>
      </p:sp>
      <p:sp>
        <p:nvSpPr>
          <p:cNvPr id="2" name="">
            <a:extLst xmlns:a="http://schemas.openxmlformats.org/drawingml/2006/main">
              <a:ext uri="{FF2B5EF4-FFF2-40B4-BE49-F238E27FC236}">
                <a16:creationId xmlns:a16="http://schemas.microsoft.com/office/drawing/2014/main" id="{29DFAB75-5757-4466-85DD-8B64CCBC77F8}"/>
              </a:ext>
            </a:extLst>
          </p:cNvPr>
          <p:cNvSpPr>
            <a:spLocks xmlns:a="http://schemas.openxmlformats.org/drawingml/2006/main" noGrp="1"/>
          </p:cNvSpPr>
          <p:nvPr/>
        </p:nvSpPr>
        <p:spPr>
          <a:xfrm xmlns:a="http://schemas.openxmlformats.org/drawingml/2006/main">
            <a:off x="609600" y="1714500"/>
            <a:ext cx="5048250" cy="4953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550" b="1">
                <a:solidFill>
                  <a:srgbClr val="117C63"/>
                </a:solidFill>
                <a:latin typeface="Helvetica Neue"/>
                <a:ea typeface="Helvetica Neue"/>
                <a:cs typeface="Helvetica Neue"/>
              </a:defRPr>
            </a:pPr>
            <a:r>
              <a:rPr sz="2550" b="1">
                <a:solidFill>
                  <a:srgbClr val="117C63"/>
                </a:solidFill>
                <a:latin typeface="Helvetica Neue"/>
                <a:ea typeface="Helvetica Neue"/>
                <a:cs typeface="Helvetica Neue"/>
              </a:rPr>
              <a:t>Before any stage runs</a:t>
            </a:r>
          </a:p>
        </p:txBody>
      </p:sp>
      <p:sp>
        <p:nvSpPr>
          <p:cNvPr id="3" name="">
            <a:extLst xmlns:a="http://schemas.openxmlformats.org/drawingml/2006/main">
              <a:ext uri="{FF2B5EF4-FFF2-40B4-BE49-F238E27FC236}">
                <a16:creationId xmlns:a16="http://schemas.microsoft.com/office/drawing/2014/main" id="{4A7DC99C-AD89-425C-BA49-CE80A8610B83}"/>
              </a:ext>
            </a:extLst>
          </p:cNvPr>
          <p:cNvSpPr>
            <a:spLocks xmlns:a="http://schemas.openxmlformats.org/drawingml/2006/main" noGrp="1"/>
          </p:cNvSpPr>
          <p:nvPr/>
        </p:nvSpPr>
        <p:spPr>
          <a:xfrm xmlns:a="http://schemas.openxmlformats.org/drawingml/2006/main">
            <a:off x="609600" y="2428875"/>
            <a:ext cx="4905375" cy="1381125"/>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400" b="0">
                <a:solidFill>
                  <a:srgbClr val="17302B"/>
                </a:solidFill>
                <a:latin typeface="Helvetica Neue"/>
                <a:ea typeface="Helvetica Neue"/>
                <a:cs typeface="Helvetica Neue"/>
              </a:defRPr>
            </a:pPr>
            <a:r>
              <a:rPr sz="2400" b="0">
                <a:solidFill>
                  <a:srgbClr val="17302B"/>
                </a:solidFill>
                <a:latin typeface="Helvetica Neue"/>
                <a:ea typeface="Helvetica Neue"/>
                <a:cs typeface="Helvetica Neue"/>
              </a:rPr>
              <a:t>Policy admits every stage against one consistent permission snapshot.</a:t>
            </a:r>
          </a:p>
        </p:txBody>
      </p:sp>
      <p:sp>
        <p:nvSpPr>
          <p:cNvPr id="4" name="">
            <a:extLst xmlns:a="http://schemas.openxmlformats.org/drawingml/2006/main">
              <a:ext uri="{FF2B5EF4-FFF2-40B4-BE49-F238E27FC236}">
                <a16:creationId xmlns:a16="http://schemas.microsoft.com/office/drawing/2014/main" id="{0015173B-97B8-4B8B-BFB5-5FAFAF6136AB}"/>
              </a:ext>
            </a:extLst>
          </p:cNvPr>
          <p:cNvSpPr>
            <a:spLocks xmlns:a="http://schemas.openxmlformats.org/drawingml/2006/main" noGrp="1"/>
          </p:cNvSpPr>
          <p:nvPr/>
        </p:nvSpPr>
        <p:spPr>
          <a:xfrm xmlns:a="http://schemas.openxmlformats.org/drawingml/2006/main">
            <a:off x="609600" y="4057650"/>
            <a:ext cx="4905375" cy="1381125"/>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100" b="0">
                <a:solidFill>
                  <a:srgbClr val="53645D"/>
                </a:solidFill>
                <a:latin typeface="Helvetica Neue"/>
                <a:ea typeface="Helvetica Neue"/>
                <a:cs typeface="Helvetica Neue"/>
              </a:defRPr>
            </a:pPr>
            <a:r>
              <a:rPr sz="2100" b="0">
                <a:solidFill>
                  <a:srgbClr val="53645D"/>
                </a:solidFill>
                <a:latin typeface="Helvetica Neue"/>
                <a:ea typeface="Helvetica Neue"/>
                <a:cs typeface="Helvetica Neue"/>
              </a:rPr>
              <a:t>A denied stage blocks the whole run.</a:t>
            </a:r>
          </a:p>
          <a:p>
            <a:pPr>
              <a:buNone/>
              <a:defRPr sz="2100" b="0">
                <a:solidFill>
                  <a:srgbClr val="53645D"/>
                </a:solidFill>
                <a:latin typeface="Helvetica Neue"/>
                <a:ea typeface="Helvetica Neue"/>
                <a:cs typeface="Helvetica Neue"/>
              </a:defRPr>
            </a:pPr>
            <a:r>
              <a:rPr sz="2100" b="0">
                <a:solidFill>
                  <a:srgbClr val="53645D"/>
                </a:solidFill>
                <a:latin typeface="Helvetica Neue"/>
                <a:ea typeface="Helvetica Neue"/>
                <a:cs typeface="Helvetica Neue"/>
              </a:rPr>
              <a:t>External writes are not atomic.</a:t>
            </a:r>
          </a:p>
        </p:txBody>
      </p:sp>
      <p:sp>
        <p:nvSpPr>
          <p:cNvPr id="5" name="">
            <a:extLst xmlns:a="http://schemas.openxmlformats.org/drawingml/2006/main">
              <a:ext uri="{FF2B5EF4-FFF2-40B4-BE49-F238E27FC236}">
                <a16:creationId xmlns:a16="http://schemas.microsoft.com/office/drawing/2014/main" id="{75587ABD-1B1D-4780-B091-45005FE49ABF}"/>
              </a:ext>
            </a:extLst>
          </p:cNvPr>
          <p:cNvSpPr>
            <a:spLocks xmlns:a="http://schemas.openxmlformats.org/drawingml/2006/main" noGrp="1"/>
          </p:cNvSpPr>
          <p:nvPr/>
        </p:nvSpPr>
        <p:spPr>
          <a:xfrm xmlns:a="http://schemas.openxmlformats.org/drawingml/2006/main">
            <a:off x="6477000" y="1714500"/>
            <a:ext cx="5048250" cy="4953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550" b="1">
                <a:solidFill>
                  <a:srgbClr val="117C63"/>
                </a:solidFill>
                <a:latin typeface="Helvetica Neue"/>
                <a:ea typeface="Helvetica Neue"/>
                <a:cs typeface="Helvetica Neue"/>
              </a:defRPr>
            </a:pPr>
            <a:r>
              <a:rPr sz="2550" b="1">
                <a:solidFill>
                  <a:srgbClr val="117C63"/>
                </a:solidFill>
                <a:latin typeface="Helvetica Neue"/>
                <a:ea typeface="Helvetica Neue"/>
                <a:cs typeface="Helvetica Neue"/>
              </a:rPr>
              <a:t>Before each effect</a:t>
            </a:r>
          </a:p>
        </p:txBody>
      </p:sp>
      <p:sp>
        <p:nvSpPr>
          <p:cNvPr id="6" name="">
            <a:extLst xmlns:a="http://schemas.openxmlformats.org/drawingml/2006/main">
              <a:ext uri="{FF2B5EF4-FFF2-40B4-BE49-F238E27FC236}">
                <a16:creationId xmlns:a16="http://schemas.microsoft.com/office/drawing/2014/main" id="{D4430558-4513-4387-AD5C-93540C0C27E7}"/>
              </a:ext>
            </a:extLst>
          </p:cNvPr>
          <p:cNvSpPr>
            <a:spLocks xmlns:a="http://schemas.openxmlformats.org/drawingml/2006/main" noGrp="1"/>
          </p:cNvSpPr>
          <p:nvPr/>
        </p:nvSpPr>
        <p:spPr>
          <a:xfrm xmlns:a="http://schemas.openxmlformats.org/drawingml/2006/main">
            <a:off x="6477000" y="2428875"/>
            <a:ext cx="4953000" cy="1381125"/>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400" b="0">
                <a:solidFill>
                  <a:srgbClr val="17302B"/>
                </a:solidFill>
                <a:latin typeface="Helvetica Neue"/>
                <a:ea typeface="Helvetica Neue"/>
                <a:cs typeface="Helvetica Neue"/>
              </a:defRPr>
            </a:pPr>
            <a:r>
              <a:rPr sz="2400" b="0">
                <a:solidFill>
                  <a:srgbClr val="17302B"/>
                </a:solidFill>
                <a:latin typeface="Helvetica Neue"/>
                <a:ea typeface="Helvetica Neue"/>
                <a:cs typeface="Helvetica Neue"/>
              </a:rPr>
              <a:t>Broker asks Policy again before every provider request or signature.</a:t>
            </a:r>
          </a:p>
        </p:txBody>
      </p:sp>
      <p:sp>
        <p:nvSpPr>
          <p:cNvPr id="7" name="">
            <a:extLst xmlns:a="http://schemas.openxmlformats.org/drawingml/2006/main">
              <a:ext uri="{FF2B5EF4-FFF2-40B4-BE49-F238E27FC236}">
                <a16:creationId xmlns:a16="http://schemas.microsoft.com/office/drawing/2014/main" id="{4DE99A59-4DCF-40D9-9750-4FD68FCC6CA8}"/>
              </a:ext>
            </a:extLst>
          </p:cNvPr>
          <p:cNvSpPr>
            <a:spLocks xmlns:a="http://schemas.openxmlformats.org/drawingml/2006/main" noGrp="1"/>
          </p:cNvSpPr>
          <p:nvPr/>
        </p:nvSpPr>
        <p:spPr>
          <a:xfrm xmlns:a="http://schemas.openxmlformats.org/drawingml/2006/main">
            <a:off x="6477000" y="4057650"/>
            <a:ext cx="4953000" cy="14287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100" b="0">
                <a:solidFill>
                  <a:srgbClr val="53645D"/>
                </a:solidFill>
                <a:latin typeface="Helvetica Neue"/>
                <a:ea typeface="Helvetica Neue"/>
                <a:cs typeface="Helvetica Neue"/>
              </a:defRPr>
            </a:pPr>
            <a:r>
              <a:rPr sz="2100" b="0">
                <a:solidFill>
                  <a:srgbClr val="53645D"/>
                </a:solidFill>
                <a:latin typeface="Helvetica Neue"/>
                <a:ea typeface="Helvetica Neue"/>
                <a:cs typeface="Helvetica Neue"/>
              </a:rPr>
              <a:t>Revocation before the check blocks authorization. Dispatched effects may finish.</a:t>
            </a:r>
          </a:p>
        </p:txBody>
      </p:sp>
      <p:sp>
        <p:nvSpPr>
          <p:cNvPr id="30" name="">
            <a:extLst xmlns:a="http://schemas.openxmlformats.org/drawingml/2006/main">
              <a:ext uri="{FF2B5EF4-FFF2-40B4-BE49-F238E27FC236}">
                <a16:creationId xmlns:a16="http://schemas.microsoft.com/office/drawing/2014/main" id="{5CECE574-2B5A-469A-91B3-3DDD65EBA747}"/>
              </a:ext>
            </a:extLst>
          </p:cNvPr>
          <p:cNvSpPr>
            <a:spLocks xmlns:a="http://schemas.openxmlformats.org/drawingml/2006/main" noGrp="1"/>
          </p:cNvSpPr>
          <p:nvPr/>
        </p:nvSpPr>
        <p:spPr>
          <a:xfrm xmlns:a="http://schemas.openxmlformats.org/drawingml/2006/main">
            <a:off x="609600" y="6000750"/>
            <a:ext cx="10858500" cy="5715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650" b="0">
                <a:solidFill>
                  <a:srgbClr val="56645F"/>
                </a:solidFill>
                <a:latin typeface="Helvetica Neue"/>
                <a:ea typeface="Helvetica Neue"/>
                <a:cs typeface="Helvetica Neue"/>
              </a:defRPr>
            </a:pPr>
            <a:r>
              <a:rPr sz="1650" b="0">
                <a:solidFill>
                  <a:srgbClr val="56645F"/>
                </a:solidFill>
                <a:latin typeface="Helvetica Neue"/>
                <a:ea typeface="Helvetica Neue"/>
                <a:cs typeface="Helvetica Neue"/>
              </a:rPr>
              <a:t>Issued browser sessions follow the provider’s documented lifetime and revocation rules.</a:t>
            </a:r>
          </a:p>
        </p:txBody>
      </p:sp>
    </p:spTree>
    <p:extLst>
      <p:ext uri="{BB962C8B-B14F-4D97-AF65-F5344CB8AC3E}">
        <p14:creationId xmlns:p14="http://schemas.microsoft.com/office/powerpoint/2010/main" val="293737865"/>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A2900D-F1BC-49A9-9A45-156E46C66C0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02B"/>
                </a:solidFill>
                <a:latin typeface="Helvetica Neue"/>
                <a:ea typeface="Helvetica Neue"/>
                <a:cs typeface="Helvetica Neue"/>
              </a:defRPr>
            </a:pPr>
            <a:r>
              <a:rPr sz="3300" b="1">
                <a:solidFill>
                  <a:srgbClr val="17302B"/>
                </a:solidFill>
                <a:latin typeface="Helvetica Neue"/>
                <a:ea typeface="Helvetica Neue"/>
                <a:cs typeface="Helvetica Neue"/>
              </a:rPr>
              <a:t>Example: share a save function</a:t>
            </a:r>
          </a:p>
        </p:txBody>
      </p:sp>
      <p:sp>
        <p:nvSpPr>
          <p:cNvPr id="2" name="">
            <a:extLst xmlns:a="http://schemas.openxmlformats.org/drawingml/2006/main">
              <a:ext uri="{FF2B5EF4-FFF2-40B4-BE49-F238E27FC236}">
                <a16:creationId xmlns:a16="http://schemas.microsoft.com/office/drawing/2014/main" id="{1CFE5ACA-2C6B-4A75-AC47-8F7918DB2854}"/>
              </a:ext>
            </a:extLst>
          </p:cNvPr>
          <p:cNvSpPr>
            <a:spLocks xmlns:a="http://schemas.openxmlformats.org/drawingml/2006/main" noGrp="1"/>
          </p:cNvSpPr>
          <p:nvPr/>
        </p:nvSpPr>
        <p:spPr>
          <a:xfrm xmlns:a="http://schemas.openxmlformats.org/drawingml/2006/main">
            <a:off x="609600" y="1619250"/>
            <a:ext cx="10572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17302B"/>
                </a:solidFill>
                <a:latin typeface="Helvetica Neue"/>
                <a:ea typeface="Helvetica Neue"/>
                <a:cs typeface="Helvetica Neue"/>
              </a:defRPr>
            </a:pPr>
            <a:r>
              <a:rPr sz="2700" b="1">
                <a:solidFill>
                  <a:srgbClr val="17302B"/>
                </a:solidFill>
                <a:latin typeface="Helvetica Neue"/>
                <a:ea typeface="Helvetica Neue"/>
                <a:cs typeface="Helvetica Neue"/>
              </a:rPr>
              <a:t>Alice shares her connection with Bob to use</a:t>
            </a:r>
          </a:p>
          <a:p xmlns:a="http://schemas.openxmlformats.org/drawingml/2006/main">
            <a:pPr>
              <a:buNone/>
              <a:defRPr sz="2700" b="1">
                <a:solidFill>
                  <a:srgbClr val="17302B"/>
                </a:solidFill>
                <a:latin typeface="Helvetica Neue"/>
                <a:ea typeface="Helvetica Neue"/>
                <a:cs typeface="Helvetica Neue"/>
              </a:defRPr>
            </a:pPr>
            <a:r>
              <a:rPr sz="2700" b="1">
                <a:solidFill>
                  <a:srgbClr val="17302B"/>
                </a:solidFill>
                <a:latin typeface="Helvetica Neue"/>
                <a:ea typeface="Helvetica Neue"/>
                <a:cs typeface="Helvetica Neue"/>
              </a:rPr>
              <a:t>save-to-itembank in L0176 (Learnosity item agent).</a:t>
            </a:r>
          </a:p>
        </p:txBody>
      </p:sp>
      <p:sp>
        <p:nvSpPr>
          <p:cNvPr id="3" name="">
            <a:extLst xmlns:a="http://schemas.openxmlformats.org/drawingml/2006/main">
              <a:ext uri="{FF2B5EF4-FFF2-40B4-BE49-F238E27FC236}">
                <a16:creationId xmlns:a16="http://schemas.microsoft.com/office/drawing/2014/main" id="{B95B11CE-CCC5-469D-B59A-A63117807F16}"/>
              </a:ext>
            </a:extLst>
          </p:cNvPr>
          <p:cNvSpPr>
            <a:spLocks xmlns:a="http://schemas.openxmlformats.org/drawingml/2006/main" noGrp="1"/>
          </p:cNvSpPr>
          <p:nvPr/>
        </p:nvSpPr>
        <p:spPr>
          <a:xfrm xmlns:a="http://schemas.openxmlformats.org/drawingml/2006/main">
            <a:off x="609600" y="32670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17C63"/>
                </a:solidFill>
                <a:latin typeface="Helvetica Neue"/>
                <a:ea typeface="Helvetica Neue"/>
                <a:cs typeface="Helvetica Neue"/>
              </a:defRPr>
            </a:pPr>
            <a:r>
              <a:rPr sz="2250" b="1">
                <a:solidFill>
                  <a:srgbClr val="117C63"/>
                </a:solidFill>
                <a:latin typeface="Helvetica Neue"/>
                <a:ea typeface="Helvetica Neue"/>
                <a:cs typeface="Helvetica Neue"/>
              </a:rPr>
              <a:t>Bob can</a:t>
            </a:r>
          </a:p>
        </p:txBody>
      </p:sp>
      <p:sp>
        <p:nvSpPr>
          <p:cNvPr id="4" name="">
            <a:extLst xmlns:a="http://schemas.openxmlformats.org/drawingml/2006/main">
              <a:ext uri="{FF2B5EF4-FFF2-40B4-BE49-F238E27FC236}">
                <a16:creationId xmlns:a16="http://schemas.microsoft.com/office/drawing/2014/main" id="{13BEB447-7829-4A7D-A29C-23DD4D5F1C01}"/>
              </a:ext>
            </a:extLst>
          </p:cNvPr>
          <p:cNvSpPr>
            <a:spLocks xmlns:a="http://schemas.openxmlformats.org/drawingml/2006/main" noGrp="1"/>
          </p:cNvSpPr>
          <p:nvPr/>
        </p:nvSpPr>
        <p:spPr>
          <a:xfrm xmlns:a="http://schemas.openxmlformats.org/drawingml/2006/main">
            <a:off x="609600" y="3895725"/>
            <a:ext cx="48101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302B"/>
                </a:solidFill>
                <a:latin typeface="Helvetica Neue"/>
                <a:ea typeface="Helvetica Neue"/>
                <a:cs typeface="Helvetica Neue"/>
              </a:defRPr>
            </a:pPr>
            <a:r>
              <a:rPr sz="2100" b="0">
                <a:solidFill>
                  <a:srgbClr val="17302B"/>
                </a:solidFill>
                <a:latin typeface="Helvetica Neue"/>
                <a:ea typeface="Helvetica Neue"/>
                <a:cs typeface="Helvetica Neue"/>
              </a:rPr>
              <a:t>Run that save through Alice’s connection.</a:t>
            </a:r>
          </a:p>
          <a:p xmlns:a="http://schemas.openxmlformats.org/drawingml/2006/main">
            <a:r>
              <a:t/>
            </a:r>
          </a:p>
          <a:p xmlns:a="http://schemas.openxmlformats.org/drawingml/2006/main">
            <a:pPr>
              <a:buNone/>
              <a:defRPr sz="2100" b="0">
                <a:solidFill>
                  <a:srgbClr val="17302B"/>
                </a:solidFill>
                <a:latin typeface="Helvetica Neue"/>
                <a:ea typeface="Helvetica Neue"/>
                <a:cs typeface="Helvetica Neue"/>
              </a:defRPr>
            </a:pPr>
            <a:r>
              <a:rPr sz="2100" b="0">
                <a:solidFill>
                  <a:srgbClr val="17302B"/>
                </a:solidFill>
                <a:latin typeface="Helvetica Neue"/>
                <a:ea typeface="Helvetica Neue"/>
                <a:cs typeface="Helvetica Neue"/>
              </a:rPr>
              <a:t>Use the implicit preview signing needed to render the result.</a:t>
            </a:r>
          </a:p>
        </p:txBody>
      </p:sp>
      <p:sp>
        <p:nvSpPr>
          <p:cNvPr id="5" name="">
            <a:extLst xmlns:a="http://schemas.openxmlformats.org/drawingml/2006/main">
              <a:ext uri="{FF2B5EF4-FFF2-40B4-BE49-F238E27FC236}">
                <a16:creationId xmlns:a16="http://schemas.microsoft.com/office/drawing/2014/main" id="{2ADB803E-A7B2-4816-AF31-FA022F60B436}"/>
              </a:ext>
            </a:extLst>
          </p:cNvPr>
          <p:cNvSpPr>
            <a:spLocks xmlns:a="http://schemas.openxmlformats.org/drawingml/2006/main" noGrp="1"/>
          </p:cNvSpPr>
          <p:nvPr/>
        </p:nvSpPr>
        <p:spPr>
          <a:xfrm xmlns:a="http://schemas.openxmlformats.org/drawingml/2006/main">
            <a:off x="6477000" y="32670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17C63"/>
                </a:solidFill>
                <a:latin typeface="Helvetica Neue"/>
                <a:ea typeface="Helvetica Neue"/>
                <a:cs typeface="Helvetica Neue"/>
              </a:defRPr>
            </a:pPr>
            <a:r>
              <a:rPr sz="2250" b="1">
                <a:solidFill>
                  <a:srgbClr val="117C63"/>
                </a:solidFill>
                <a:latin typeface="Helvetica Neue"/>
                <a:ea typeface="Helvetica Neue"/>
                <a:cs typeface="Helvetica Neue"/>
              </a:rPr>
              <a:t>The grant does not include</a:t>
            </a:r>
          </a:p>
        </p:txBody>
      </p:sp>
      <p:sp>
        <p:nvSpPr>
          <p:cNvPr id="6" name="">
            <a:extLst xmlns:a="http://schemas.openxmlformats.org/drawingml/2006/main">
              <a:ext uri="{FF2B5EF4-FFF2-40B4-BE49-F238E27FC236}">
                <a16:creationId xmlns:a16="http://schemas.microsoft.com/office/drawing/2014/main" id="{EC5242EB-578E-4C0D-98CD-2A9BAA8570D2}"/>
              </a:ext>
            </a:extLst>
          </p:cNvPr>
          <p:cNvSpPr>
            <a:spLocks xmlns:a="http://schemas.openxmlformats.org/drawingml/2006/main" noGrp="1"/>
          </p:cNvSpPr>
          <p:nvPr/>
        </p:nvSpPr>
        <p:spPr>
          <a:xfrm xmlns:a="http://schemas.openxmlformats.org/drawingml/2006/main">
            <a:off x="6477000" y="3895725"/>
            <a:ext cx="49530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302B"/>
                </a:solidFill>
                <a:latin typeface="Helvetica Neue"/>
                <a:ea typeface="Helvetica Neue"/>
                <a:cs typeface="Helvetica Neue"/>
              </a:defRPr>
            </a:pPr>
            <a:r>
              <a:rPr sz="2100" b="0">
                <a:solidFill>
                  <a:srgbClr val="17302B"/>
                </a:solidFill>
                <a:latin typeface="Helvetica Neue"/>
                <a:ea typeface="Helvetica Neue"/>
                <a:cs typeface="Helvetica Neue"/>
              </a:rPr>
              <a:t>Resharing or publishing.</a:t>
            </a:r>
          </a:p>
          <a:p xmlns:a="http://schemas.openxmlformats.org/drawingml/2006/main">
            <a:r>
              <a:t/>
            </a:r>
          </a:p>
          <a:p xmlns:a="http://schemas.openxmlformats.org/drawingml/2006/main">
            <a:pPr>
              <a:buNone/>
              <a:defRPr sz="2100" b="0">
                <a:solidFill>
                  <a:srgbClr val="17302B"/>
                </a:solidFill>
                <a:latin typeface="Helvetica Neue"/>
                <a:ea typeface="Helvetica Neue"/>
                <a:cs typeface="Helvetica Neue"/>
              </a:defRPr>
            </a:pPr>
            <a:r>
              <a:rPr sz="2100" b="0">
                <a:solidFill>
                  <a:srgbClr val="17302B"/>
                </a:solidFill>
                <a:latin typeface="Helvetica Neue"/>
                <a:ea typeface="Helvetica Neue"/>
                <a:cs typeface="Helvetica Neue"/>
              </a:rPr>
              <a:t>Author editing/deletion sessions.</a:t>
            </a:r>
          </a:p>
          <a:p xmlns:a="http://schemas.openxmlformats.org/drawingml/2006/main">
            <a:r>
              <a:t/>
            </a:r>
          </a:p>
          <a:p xmlns:a="http://schemas.openxmlformats.org/drawingml/2006/main">
            <a:pPr>
              <a:buNone/>
              <a:defRPr sz="2100" b="0">
                <a:solidFill>
                  <a:srgbClr val="17302B"/>
                </a:solidFill>
                <a:latin typeface="Helvetica Neue"/>
                <a:ea typeface="Helvetica Neue"/>
                <a:cs typeface="Helvetica Neue"/>
              </a:defRPr>
            </a:pPr>
            <a:r>
              <a:rPr sz="2100" b="0">
                <a:solidFill>
                  <a:srgbClr val="17302B"/>
                </a:solidFill>
                <a:latin typeface="Helvetica Neue"/>
                <a:ea typeface="Helvetica Neue"/>
                <a:cs typeface="Helvetica Neue"/>
              </a:rPr>
              <a:t>A different language’s save function.</a:t>
            </a:r>
          </a:p>
        </p:txBody>
      </p:sp>
      <p:sp>
        <p:nvSpPr>
          <p:cNvPr id="7" name="">
            <a:extLst xmlns:a="http://schemas.openxmlformats.org/drawingml/2006/main">
              <a:ext uri="{FF2B5EF4-FFF2-40B4-BE49-F238E27FC236}">
                <a16:creationId xmlns:a16="http://schemas.microsoft.com/office/drawing/2014/main" id="{1E788416-B98A-48C5-AFBA-95CE4388A237}"/>
              </a:ext>
            </a:extLst>
          </p:cNvPr>
          <p:cNvSpPr>
            <a:spLocks xmlns:a="http://schemas.openxmlformats.org/drawingml/2006/main" noGrp="1"/>
          </p:cNvSpPr>
          <p:nvPr/>
        </p:nvSpPr>
        <p:spPr>
          <a:xfrm xmlns:a="http://schemas.openxmlformats.org/drawingml/2006/main">
            <a:off x="609600" y="5857875"/>
            <a:ext cx="10820400" cy="7429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650" b="0">
                <a:solidFill>
                  <a:srgbClr val="53645D"/>
                </a:solidFill>
                <a:latin typeface="Helvetica Neue"/>
                <a:ea typeface="Helvetica Neue"/>
                <a:cs typeface="Helvetica Neue"/>
              </a:defRPr>
            </a:pPr>
            <a:r>
              <a:rPr sz="1650" b="0">
                <a:solidFill>
                  <a:srgbClr val="53645D"/>
                </a:solidFill>
                <a:latin typeface="Helvetica Neue"/>
                <a:ea typeface="Helvetica Neue"/>
                <a:cs typeface="Helvetica Neue"/>
              </a:rPr>
              <a:t>Grants cover functions on a connection, not individual items.</a:t>
            </a:r>
          </a:p>
          <a:p>
            <a:pPr>
              <a:buNone/>
              <a:defRPr sz="1650" b="0">
                <a:solidFill>
                  <a:srgbClr val="53645D"/>
                </a:solidFill>
                <a:latin typeface="Helvetica Neue"/>
                <a:ea typeface="Helvetica Neue"/>
                <a:cs typeface="Helvetica Neue"/>
              </a:defRPr>
            </a:pPr>
            <a:r>
              <a:rPr sz="1650" b="0">
                <a:solidFill>
                  <a:srgbClr val="53645D"/>
                </a:solidFill>
                <a:latin typeface="Helvetica Neue"/>
                <a:ea typeface="Helvetica Neue"/>
                <a:cs typeface="Helvetica Neue"/>
              </a:rPr>
              <a:t>Author signing stays disabled until provider validation passes, including for owners.</a:t>
            </a:r>
          </a:p>
        </p:txBody>
      </p:sp>
    </p:spTree>
    <p:extLst>
      <p:ext uri="{BB962C8B-B14F-4D97-AF65-F5344CB8AC3E}">
        <p14:creationId xmlns:p14="http://schemas.microsoft.com/office/powerpoint/2010/main" val="634250658"/>
      </p:ext>
    </p:extLst>
  </p:cSld>
</p:sld>
</file>

<file path=ppt/slides/slide6.xml><?xml version="1.0" encoding="utf-8"?>
<p:sld xmlns:p="http://schemas.openxmlformats.org/presentationml/2006/main">
  <p:cSld>
    <p:bg>
      <p:bgPr>
        <a:solidFill xmlns:a="http://schemas.openxmlformats.org/drawingml/2006/main">
          <a:srgbClr val="1730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244244D-C790-4EAC-AFAB-41F2A9959AD0}"/>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Enforced security boundaries</a:t>
            </a:r>
          </a:p>
        </p:txBody>
      </p:sp>
      <p:sp>
        <p:nvSpPr>
          <p:cNvPr id="2" name="">
            <a:extLst xmlns:a="http://schemas.openxmlformats.org/drawingml/2006/main">
              <a:ext uri="{FF2B5EF4-FFF2-40B4-BE49-F238E27FC236}">
                <a16:creationId xmlns:a16="http://schemas.microsoft.com/office/drawing/2014/main" id="{566A572B-4C54-4D7C-BD03-B86A5C750AED}"/>
              </a:ext>
            </a:extLst>
          </p:cNvPr>
          <p:cNvSpPr>
            <a:spLocks xmlns:a="http://schemas.openxmlformats.org/drawingml/2006/main" noGrp="1"/>
          </p:cNvSpPr>
          <p:nvPr/>
        </p:nvSpPr>
        <p:spPr>
          <a:xfrm xmlns:a="http://schemas.openxmlformats.org/drawingml/2006/main">
            <a:off x="609600" y="1314450"/>
            <a:ext cx="10858500" cy="60960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250" b="0">
                <a:solidFill>
                  <a:srgbClr val="A7E1C7"/>
                </a:solidFill>
                <a:latin typeface="Helvetica Neue"/>
                <a:ea typeface="Helvetica Neue"/>
                <a:cs typeface="Helvetica Neue"/>
              </a:defRPr>
            </a:pPr>
            <a:r>
              <a:rPr sz="2250" b="0">
                <a:solidFill>
                  <a:srgbClr val="A7E1C7"/>
                </a:solidFill>
                <a:latin typeface="Helvetica Neue"/>
                <a:ea typeface="Helvetica Neue"/>
                <a:cs typeface="Helvetica Neue"/>
              </a:rPr>
              <a:t>The gateway coordinates admission. Broker enforces each operation.</a:t>
            </a:r>
          </a:p>
        </p:txBody>
      </p:sp>
      <p:sp>
        <p:nvSpPr>
          <p:cNvPr id="3" name="">
            <a:extLst xmlns:a="http://schemas.openxmlformats.org/drawingml/2006/main">
              <a:ext uri="{FF2B5EF4-FFF2-40B4-BE49-F238E27FC236}">
                <a16:creationId xmlns:a16="http://schemas.microsoft.com/office/drawing/2014/main" id="{2577E99A-9FBC-4E85-9337-059992D0DABE}"/>
              </a:ext>
            </a:extLst>
          </p:cNvPr>
          <p:cNvSpPr>
            <a:spLocks xmlns:a="http://schemas.openxmlformats.org/drawingml/2006/main" noGrp="1"/>
          </p:cNvSpPr>
          <p:nvPr/>
        </p:nvSpPr>
        <p:spPr>
          <a:xfrm xmlns:a="http://schemas.openxmlformats.org/drawingml/2006/main">
            <a:off x="3429000" y="2143125"/>
            <a:ext cx="2428875" cy="742950"/>
          </a:xfrm>
          <a:prstGeom xmlns:a="http://schemas.openxmlformats.org/drawingml/2006/main" prst="rect">
            <a:avLst/>
          </a:prstGeom>
          <a:solidFill xmlns:a="http://schemas.openxmlformats.org/drawingml/2006/main">
            <a:srgbClr val="234A40"/>
          </a:solidFill>
          <a:ln xmlns:a="http://schemas.openxmlformats.org/drawingml/2006/main" w="14288">
            <a:solidFill>
              <a:srgbClr val="A7E1C7"/>
            </a:solidFill>
          </a:ln>
        </p:spPr>
      </p:sp>
      <p:sp>
        <p:nvSpPr>
          <p:cNvPr id="4" name="">
            <a:extLst xmlns:a="http://schemas.openxmlformats.org/drawingml/2006/main">
              <a:ext uri="{FF2B5EF4-FFF2-40B4-BE49-F238E27FC236}">
                <a16:creationId xmlns:a16="http://schemas.microsoft.com/office/drawing/2014/main" id="{30266555-B38A-42E0-897F-3248B8D7CA7E}"/>
              </a:ext>
            </a:extLst>
          </p:cNvPr>
          <p:cNvSpPr>
            <a:spLocks xmlns:a="http://schemas.openxmlformats.org/drawingml/2006/main" noGrp="1"/>
          </p:cNvSpPr>
          <p:nvPr/>
        </p:nvSpPr>
        <p:spPr>
          <a:xfrm xmlns:a="http://schemas.openxmlformats.org/drawingml/2006/main">
            <a:off x="3571875" y="2314575"/>
            <a:ext cx="214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Owner</a:t>
            </a:r>
          </a:p>
        </p:txBody>
      </p:sp>
      <p:sp>
        <p:nvSpPr>
          <p:cNvPr id="5" name="">
            <a:extLst xmlns:a="http://schemas.openxmlformats.org/drawingml/2006/main">
              <a:ext uri="{FF2B5EF4-FFF2-40B4-BE49-F238E27FC236}">
                <a16:creationId xmlns:a16="http://schemas.microsoft.com/office/drawing/2014/main" id="{43AB222B-08AB-429A-B519-19760F68692B}"/>
              </a:ext>
            </a:extLst>
          </p:cNvPr>
          <p:cNvSpPr>
            <a:spLocks xmlns:a="http://schemas.openxmlformats.org/drawingml/2006/main" noGrp="1"/>
          </p:cNvSpPr>
          <p:nvPr/>
        </p:nvSpPr>
        <p:spPr>
          <a:xfrm xmlns:a="http://schemas.openxmlformats.org/drawingml/2006/main">
            <a:off x="609600" y="3638550"/>
            <a:ext cx="2190750" cy="952500"/>
          </a:xfrm>
          <a:prstGeom xmlns:a="http://schemas.openxmlformats.org/drawingml/2006/main" prst="rect">
            <a:avLst/>
          </a:prstGeom>
          <a:solidFill xmlns:a="http://schemas.openxmlformats.org/drawingml/2006/main">
            <a:srgbClr val="234A40"/>
          </a:solidFill>
          <a:ln xmlns:a="http://schemas.openxmlformats.org/drawingml/2006/main" w="14288">
            <a:solidFill>
              <a:srgbClr val="A7E1C7"/>
            </a:solidFill>
          </a:ln>
        </p:spPr>
      </p:sp>
      <p:sp>
        <p:nvSpPr>
          <p:cNvPr id="6" name="">
            <a:extLst xmlns:a="http://schemas.openxmlformats.org/drawingml/2006/main">
              <a:ext uri="{FF2B5EF4-FFF2-40B4-BE49-F238E27FC236}">
                <a16:creationId xmlns:a16="http://schemas.microsoft.com/office/drawing/2014/main" id="{78976200-8D36-4E6C-AF75-9C71AD891E8F}"/>
              </a:ext>
            </a:extLst>
          </p:cNvPr>
          <p:cNvSpPr>
            <a:spLocks xmlns:a="http://schemas.openxmlformats.org/drawingml/2006/main" noGrp="1"/>
          </p:cNvSpPr>
          <p:nvPr/>
        </p:nvSpPr>
        <p:spPr>
          <a:xfrm xmlns:a="http://schemas.openxmlformats.org/drawingml/2006/main">
            <a:off x="752475" y="3714750"/>
            <a:ext cx="1952625" cy="7810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Gateway +</a:t>
            </a:r>
          </a:p>
          <a:p>
            <a:pP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compilers</a:t>
            </a:r>
          </a:p>
        </p:txBody>
      </p:sp>
      <p:sp>
        <p:nvSpPr>
          <p:cNvPr id="7" name="">
            <a:extLst xmlns:a="http://schemas.openxmlformats.org/drawingml/2006/main">
              <a:ext uri="{FF2B5EF4-FFF2-40B4-BE49-F238E27FC236}">
                <a16:creationId xmlns:a16="http://schemas.microsoft.com/office/drawing/2014/main" id="{38C6D57A-48AE-40D5-8C84-21921DECEEF5}"/>
              </a:ext>
            </a:extLst>
          </p:cNvPr>
          <p:cNvSpPr>
            <a:spLocks xmlns:a="http://schemas.openxmlformats.org/drawingml/2006/main" noGrp="1"/>
          </p:cNvSpPr>
          <p:nvPr/>
        </p:nvSpPr>
        <p:spPr>
          <a:xfrm xmlns:a="http://schemas.openxmlformats.org/drawingml/2006/main">
            <a:off x="3429000" y="3638550"/>
            <a:ext cx="2428875" cy="952500"/>
          </a:xfrm>
          <a:prstGeom xmlns:a="http://schemas.openxmlformats.org/drawingml/2006/main" prst="rect">
            <a:avLst/>
          </a:prstGeom>
          <a:solidFill xmlns:a="http://schemas.openxmlformats.org/drawingml/2006/main">
            <a:srgbClr val="234A40"/>
          </a:solidFill>
          <a:ln xmlns:a="http://schemas.openxmlformats.org/drawingml/2006/main" w="14288">
            <a:solidFill>
              <a:srgbClr val="A7E1C7"/>
            </a:solidFill>
          </a:ln>
        </p:spPr>
      </p:sp>
      <p:sp>
        <p:nvSpPr>
          <p:cNvPr id="8" name="">
            <a:extLst xmlns:a="http://schemas.openxmlformats.org/drawingml/2006/main">
              <a:ext uri="{FF2B5EF4-FFF2-40B4-BE49-F238E27FC236}">
                <a16:creationId xmlns:a16="http://schemas.microsoft.com/office/drawing/2014/main" id="{23D669DB-0972-476E-9302-4FCE9B65C2D0}"/>
              </a:ext>
            </a:extLst>
          </p:cNvPr>
          <p:cNvSpPr>
            <a:spLocks xmlns:a="http://schemas.openxmlformats.org/drawingml/2006/main" noGrp="1"/>
          </p:cNvSpPr>
          <p:nvPr/>
        </p:nvSpPr>
        <p:spPr>
          <a:xfrm xmlns:a="http://schemas.openxmlformats.org/drawingml/2006/main">
            <a:off x="3571875" y="3810000"/>
            <a:ext cx="2143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Policy</a:t>
            </a:r>
          </a:p>
        </p:txBody>
      </p:sp>
      <p:sp>
        <p:nvSpPr>
          <p:cNvPr id="9" name="">
            <a:extLst xmlns:a="http://schemas.openxmlformats.org/drawingml/2006/main">
              <a:ext uri="{FF2B5EF4-FFF2-40B4-BE49-F238E27FC236}">
                <a16:creationId xmlns:a16="http://schemas.microsoft.com/office/drawing/2014/main" id="{3B970CFF-4FF3-44DC-B0A6-2F607691C646}"/>
              </a:ext>
            </a:extLst>
          </p:cNvPr>
          <p:cNvSpPr>
            <a:spLocks xmlns:a="http://schemas.openxmlformats.org/drawingml/2006/main" noGrp="1"/>
          </p:cNvSpPr>
          <p:nvPr/>
        </p:nvSpPr>
        <p:spPr>
          <a:xfrm xmlns:a="http://schemas.openxmlformats.org/drawingml/2006/main">
            <a:off x="6486525" y="3638550"/>
            <a:ext cx="2190750" cy="952500"/>
          </a:xfrm>
          <a:prstGeom xmlns:a="http://schemas.openxmlformats.org/drawingml/2006/main" prst="rect">
            <a:avLst/>
          </a:prstGeom>
          <a:solidFill xmlns:a="http://schemas.openxmlformats.org/drawingml/2006/main">
            <a:srgbClr val="234A40"/>
          </a:solidFill>
          <a:ln xmlns:a="http://schemas.openxmlformats.org/drawingml/2006/main" w="14288">
            <a:solidFill>
              <a:srgbClr val="A7E1C7"/>
            </a:solidFill>
          </a:ln>
        </p:spPr>
      </p:sp>
      <p:sp>
        <p:nvSpPr>
          <p:cNvPr id="10" name="">
            <a:extLst xmlns:a="http://schemas.openxmlformats.org/drawingml/2006/main">
              <a:ext uri="{FF2B5EF4-FFF2-40B4-BE49-F238E27FC236}">
                <a16:creationId xmlns:a16="http://schemas.microsoft.com/office/drawing/2014/main" id="{0076259D-FEAE-4C35-9A3E-B5CDD9F94A0B}"/>
              </a:ext>
            </a:extLst>
          </p:cNvPr>
          <p:cNvSpPr>
            <a:spLocks xmlns:a="http://schemas.openxmlformats.org/drawingml/2006/main" noGrp="1"/>
          </p:cNvSpPr>
          <p:nvPr/>
        </p:nvSpPr>
        <p:spPr>
          <a:xfrm xmlns:a="http://schemas.openxmlformats.org/drawingml/2006/main">
            <a:off x="6629400" y="3810000"/>
            <a:ext cx="1905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Broker</a:t>
            </a:r>
          </a:p>
        </p:txBody>
      </p:sp>
      <p:sp>
        <p:nvSpPr>
          <p:cNvPr id="11" name="">
            <a:extLst xmlns:a="http://schemas.openxmlformats.org/drawingml/2006/main">
              <a:ext uri="{FF2B5EF4-FFF2-40B4-BE49-F238E27FC236}">
                <a16:creationId xmlns:a16="http://schemas.microsoft.com/office/drawing/2014/main" id="{D1B9989F-2A1A-4D4F-AE2A-CCDB8C7F92CF}"/>
              </a:ext>
            </a:extLst>
          </p:cNvPr>
          <p:cNvSpPr>
            <a:spLocks xmlns:a="http://schemas.openxmlformats.org/drawingml/2006/main" noGrp="1"/>
          </p:cNvSpPr>
          <p:nvPr/>
        </p:nvSpPr>
        <p:spPr>
          <a:xfrm xmlns:a="http://schemas.openxmlformats.org/drawingml/2006/main">
            <a:off x="9305925" y="3638550"/>
            <a:ext cx="2276475" cy="952500"/>
          </a:xfrm>
          <a:prstGeom xmlns:a="http://schemas.openxmlformats.org/drawingml/2006/main" prst="rect">
            <a:avLst/>
          </a:prstGeom>
          <a:solidFill xmlns:a="http://schemas.openxmlformats.org/drawingml/2006/main">
            <a:srgbClr val="234A40"/>
          </a:solidFill>
          <a:ln xmlns:a="http://schemas.openxmlformats.org/drawingml/2006/main" w="14288">
            <a:solidFill>
              <a:srgbClr val="A7E1C7"/>
            </a:solidFill>
          </a:ln>
        </p:spPr>
      </p:sp>
      <p:sp>
        <p:nvSpPr>
          <p:cNvPr id="12" name="">
            <a:extLst xmlns:a="http://schemas.openxmlformats.org/drawingml/2006/main">
              <a:ext uri="{FF2B5EF4-FFF2-40B4-BE49-F238E27FC236}">
                <a16:creationId xmlns:a16="http://schemas.microsoft.com/office/drawing/2014/main" id="{80E5E968-B9DF-4C6C-B033-839ABCEF96A4}"/>
              </a:ext>
            </a:extLst>
          </p:cNvPr>
          <p:cNvSpPr>
            <a:spLocks xmlns:a="http://schemas.openxmlformats.org/drawingml/2006/main" noGrp="1"/>
          </p:cNvSpPr>
          <p:nvPr/>
        </p:nvSpPr>
        <p:spPr>
          <a:xfrm xmlns:a="http://schemas.openxmlformats.org/drawingml/2006/main">
            <a:off x="9448800" y="3810000"/>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External API</a:t>
            </a:r>
          </a:p>
        </p:txBody>
      </p:sp>
      <p:cxnSp>
        <p:nvCxnSpPr>
          <p:cNvPr id="211" name=""/>
          <p:cNvCxnSpPr>
            <a:stCxn xmlns:a="http://schemas.openxmlformats.org/drawingml/2006/main" id="3" idx="2"/>
            <a:endCxn xmlns:a="http://schemas.openxmlformats.org/drawingml/2006/main" id="7" idx="0"/>
          </p:cNvCxnSpPr>
          <p:nvPr/>
        </p:nvCxnSpPr>
        <p:spPr>
          <a:xfrm xmlns:a="http://schemas.openxmlformats.org/drawingml/2006/main">
            <a:off x="4643438" y="2886075"/>
            <a:ext cx="0" cy="752475"/>
          </a:xfrm>
          <a:prstGeom xmlns:a="http://schemas.openxmlformats.org/drawingml/2006/main" prst="straightConnector1">
            <a:avLst/>
          </a:prstGeom>
          <a:ln xmlns:a="http://schemas.openxmlformats.org/drawingml/2006/main" w="23813">
            <a:solidFill>
              <a:srgbClr val="A7E1C7"/>
            </a:solidFill>
            <a:tailEnd type="triangle" w="med" len="med"/>
          </a:ln>
        </p:spPr>
      </p:cxnSp>
      <p:cxnSp>
        <p:nvCxnSpPr>
          <p:cNvPr id="212" name=""/>
          <p:cNvCxnSpPr>
            <a:stCxn xmlns:a="http://schemas.openxmlformats.org/drawingml/2006/main" id="5" idx="3"/>
            <a:endCxn xmlns:a="http://schemas.openxmlformats.org/drawingml/2006/main" id="7" idx="1"/>
          </p:cNvCxnSpPr>
          <p:nvPr/>
        </p:nvCxnSpPr>
        <p:spPr>
          <a:xfrm xmlns:a="http://schemas.openxmlformats.org/drawingml/2006/main">
            <a:off x="2800350" y="4114800"/>
            <a:ext cx="628650" cy="0"/>
          </a:xfrm>
          <a:prstGeom xmlns:a="http://schemas.openxmlformats.org/drawingml/2006/main" prst="straightConnector1">
            <a:avLst/>
          </a:prstGeom>
          <a:ln xmlns:a="http://schemas.openxmlformats.org/drawingml/2006/main" w="23813">
            <a:solidFill>
              <a:srgbClr val="A7E1C7"/>
            </a:solidFill>
            <a:tailEnd type="triangle" w="med" len="med"/>
          </a:ln>
        </p:spPr>
      </p:cxnSp>
      <p:cxnSp>
        <p:nvCxnSpPr>
          <p:cNvPr id="213" name=""/>
          <p:cNvCxnSpPr>
            <a:stCxn xmlns:a="http://schemas.openxmlformats.org/drawingml/2006/main" id="7" idx="3"/>
            <a:endCxn xmlns:a="http://schemas.openxmlformats.org/drawingml/2006/main" id="9" idx="1"/>
          </p:cNvCxnSpPr>
          <p:nvPr/>
        </p:nvCxnSpPr>
        <p:spPr>
          <a:xfrm xmlns:a="http://schemas.openxmlformats.org/drawingml/2006/main">
            <a:off x="5857875" y="4114800"/>
            <a:ext cx="628650" cy="0"/>
          </a:xfrm>
          <a:prstGeom xmlns:a="http://schemas.openxmlformats.org/drawingml/2006/main" prst="straightConnector1">
            <a:avLst/>
          </a:prstGeom>
          <a:ln xmlns:a="http://schemas.openxmlformats.org/drawingml/2006/main" w="23813">
            <a:solidFill>
              <a:srgbClr val="A7E1C7"/>
            </a:solidFill>
            <a:headEnd type="triangle" w="med" len="med"/>
            <a:tailEnd type="triangle" w="med" len="med"/>
          </a:ln>
        </p:spPr>
      </p:cxnSp>
      <p:cxnSp>
        <p:nvCxnSpPr>
          <p:cNvPr id="214" name=""/>
          <p:cNvCxnSpPr>
            <a:stCxn xmlns:a="http://schemas.openxmlformats.org/drawingml/2006/main" id="9" idx="3"/>
            <a:endCxn xmlns:a="http://schemas.openxmlformats.org/drawingml/2006/main" id="11" idx="1"/>
          </p:cNvCxnSpPr>
          <p:nvPr/>
        </p:nvCxnSpPr>
        <p:spPr>
          <a:xfrm xmlns:a="http://schemas.openxmlformats.org/drawingml/2006/main">
            <a:off x="8677275" y="4114800"/>
            <a:ext cx="628650" cy="0"/>
          </a:xfrm>
          <a:prstGeom xmlns:a="http://schemas.openxmlformats.org/drawingml/2006/main" prst="straightConnector1">
            <a:avLst/>
          </a:prstGeom>
          <a:ln xmlns:a="http://schemas.openxmlformats.org/drawingml/2006/main" w="23813">
            <a:solidFill>
              <a:srgbClr val="A7E1C7"/>
            </a:solidFill>
            <a:tailEnd type="triangle" w="med" len="med"/>
          </a:ln>
        </p:spPr>
      </p:cxnSp>
      <p:sp>
        <p:nvSpPr>
          <p:cNvPr id="17" name="">
            <a:extLst xmlns:a="http://schemas.openxmlformats.org/drawingml/2006/main">
              <a:ext uri="{FF2B5EF4-FFF2-40B4-BE49-F238E27FC236}">
                <a16:creationId xmlns:a16="http://schemas.microsoft.com/office/drawing/2014/main" id="{B03B6E0E-64DE-466E-BFA9-F7D99574A7AF}"/>
              </a:ext>
            </a:extLst>
          </p:cNvPr>
          <p:cNvSpPr>
            <a:spLocks xmlns:a="http://schemas.openxmlformats.org/drawingml/2006/main" noGrp="1"/>
          </p:cNvSpPr>
          <p:nvPr/>
        </p:nvSpPr>
        <p:spPr>
          <a:xfrm xmlns:a="http://schemas.openxmlformats.org/drawingml/2006/main">
            <a:off x="6096000" y="23431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8CCC3"/>
                </a:solidFill>
                <a:latin typeface="Helvetica Neue"/>
                <a:ea typeface="Helvetica Neue"/>
                <a:cs typeface="Helvetica Neue"/>
              </a:defRPr>
            </a:pPr>
            <a:r>
              <a:rPr sz="1875" b="0">
                <a:solidFill>
                  <a:srgbClr val="B8CCC3"/>
                </a:solidFill>
                <a:latin typeface="Helvetica Neue"/>
                <a:ea typeface="Helvetica Neue"/>
                <a:cs typeface="Helvetica Neue"/>
              </a:rPr>
              <a:t>Creates and revokes grants</a:t>
            </a:r>
          </a:p>
        </p:txBody>
      </p:sp>
      <p:sp>
        <p:nvSpPr>
          <p:cNvPr id="18" name="">
            <a:extLst xmlns:a="http://schemas.openxmlformats.org/drawingml/2006/main">
              <a:ext uri="{FF2B5EF4-FFF2-40B4-BE49-F238E27FC236}">
                <a16:creationId xmlns:a16="http://schemas.microsoft.com/office/drawing/2014/main" id="{7A3D6C4B-A5B2-4308-955A-DBCFBFD7D41F}"/>
              </a:ext>
            </a:extLst>
          </p:cNvPr>
          <p:cNvSpPr>
            <a:spLocks xmlns:a="http://schemas.openxmlformats.org/drawingml/2006/main" noGrp="1"/>
          </p:cNvSpPr>
          <p:nvPr/>
        </p:nvSpPr>
        <p:spPr>
          <a:xfrm xmlns:a="http://schemas.openxmlformats.org/drawingml/2006/main">
            <a:off x="609600" y="4752975"/>
            <a:ext cx="2400300" cy="8572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00" b="0">
                <a:solidFill>
                  <a:srgbClr val="B8CCC3"/>
                </a:solidFill>
                <a:latin typeface="Helvetica Neue"/>
                <a:ea typeface="Helvetica Neue"/>
                <a:cs typeface="Helvetica Neue"/>
              </a:defRPr>
            </a:pPr>
            <a:r>
              <a:rPr sz="1800" b="0">
                <a:solidFill>
                  <a:srgbClr val="B8CCC3"/>
                </a:solidFill>
                <a:latin typeface="Helvetica Neue"/>
                <a:ea typeface="Helvetica Neue"/>
                <a:cs typeface="Helvetica Neue"/>
              </a:rPr>
              <a:t>Preflight all stages</a:t>
            </a:r>
          </a:p>
          <a:p>
            <a:pPr>
              <a:buNone/>
              <a:defRPr sz="1800" b="0">
                <a:solidFill>
                  <a:srgbClr val="B8CCC3"/>
                </a:solidFill>
                <a:latin typeface="Helvetica Neue"/>
                <a:ea typeface="Helvetica Neue"/>
                <a:cs typeface="Helvetica Neue"/>
              </a:defRPr>
            </a:pPr>
            <a:r>
              <a:rPr sz="1800" b="0">
                <a:solidFill>
                  <a:srgbClr val="B8CCC3"/>
                </a:solidFill>
                <a:latin typeface="Helvetica Neue"/>
                <a:ea typeface="Helvetica Neue"/>
                <a:cs typeface="Helvetica Neue"/>
              </a:rPr>
              <a:t>and bind the plan</a:t>
            </a:r>
          </a:p>
        </p:txBody>
      </p:sp>
      <p:sp>
        <p:nvSpPr>
          <p:cNvPr id="19" name="">
            <a:extLst xmlns:a="http://schemas.openxmlformats.org/drawingml/2006/main">
              <a:ext uri="{FF2B5EF4-FFF2-40B4-BE49-F238E27FC236}">
                <a16:creationId xmlns:a16="http://schemas.microsoft.com/office/drawing/2014/main" id="{38D065E0-74D2-434A-8E8C-84BB7CEA4B15}"/>
              </a:ext>
            </a:extLst>
          </p:cNvPr>
          <p:cNvSpPr>
            <a:spLocks xmlns:a="http://schemas.openxmlformats.org/drawingml/2006/main" noGrp="1"/>
          </p:cNvSpPr>
          <p:nvPr/>
        </p:nvSpPr>
        <p:spPr>
          <a:xfrm xmlns:a="http://schemas.openxmlformats.org/drawingml/2006/main">
            <a:off x="3429000" y="4752975"/>
            <a:ext cx="2552700" cy="8572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00" b="0">
                <a:solidFill>
                  <a:srgbClr val="B8CCC3"/>
                </a:solidFill>
                <a:latin typeface="Helvetica Neue"/>
                <a:ea typeface="Helvetica Neue"/>
                <a:cs typeface="Helvetica Neue"/>
              </a:defRPr>
            </a:pPr>
            <a:r>
              <a:rPr sz="1800" b="0">
                <a:solidFill>
                  <a:srgbClr val="B8CCC3"/>
                </a:solidFill>
                <a:latin typeface="Helvetica Neue"/>
                <a:ea typeface="Helvetica Neue"/>
                <a:cs typeface="Helvetica Neue"/>
              </a:rPr>
              <a:t>Admit the chain</a:t>
            </a:r>
          </a:p>
          <a:p>
            <a:pPr>
              <a:buNone/>
              <a:defRPr sz="1800" b="0">
                <a:solidFill>
                  <a:srgbClr val="B8CCC3"/>
                </a:solidFill>
                <a:latin typeface="Helvetica Neue"/>
                <a:ea typeface="Helvetica Neue"/>
                <a:cs typeface="Helvetica Neue"/>
              </a:defRPr>
            </a:pPr>
            <a:r>
              <a:rPr sz="1800" b="0">
                <a:solidFill>
                  <a:srgbClr val="B8CCC3"/>
                </a:solidFill>
                <a:latin typeface="Helvetica Neue"/>
                <a:ea typeface="Helvetica Neue"/>
                <a:cs typeface="Helvetica Neue"/>
              </a:rPr>
              <a:t>and check live access</a:t>
            </a:r>
          </a:p>
        </p:txBody>
      </p:sp>
      <p:sp>
        <p:nvSpPr>
          <p:cNvPr id="20" name="">
            <a:extLst xmlns:a="http://schemas.openxmlformats.org/drawingml/2006/main">
              <a:ext uri="{FF2B5EF4-FFF2-40B4-BE49-F238E27FC236}">
                <a16:creationId xmlns:a16="http://schemas.microsoft.com/office/drawing/2014/main" id="{9AF3A837-9214-491B-9AEF-B2A7CE6600BE}"/>
              </a:ext>
            </a:extLst>
          </p:cNvPr>
          <p:cNvSpPr>
            <a:spLocks xmlns:a="http://schemas.openxmlformats.org/drawingml/2006/main" noGrp="1"/>
          </p:cNvSpPr>
          <p:nvPr/>
        </p:nvSpPr>
        <p:spPr>
          <a:xfrm xmlns:a="http://schemas.openxmlformats.org/drawingml/2006/main">
            <a:off x="6486525" y="4752975"/>
            <a:ext cx="2362200" cy="8572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800" b="0">
                <a:solidFill>
                  <a:srgbClr val="B8CCC3"/>
                </a:solidFill>
                <a:latin typeface="Helvetica Neue"/>
                <a:ea typeface="Helvetica Neue"/>
                <a:cs typeface="Helvetica Neue"/>
              </a:defRPr>
            </a:pPr>
            <a:r>
              <a:rPr sz="1800" b="0">
                <a:solidFill>
                  <a:srgbClr val="B8CCC3"/>
                </a:solidFill>
                <a:latin typeface="Helvetica Neue"/>
                <a:ea typeface="Helvetica Neue"/>
                <a:cs typeface="Helvetica Neue"/>
              </a:rPr>
              <a:t>Verify proof and</a:t>
            </a:r>
          </a:p>
          <a:p>
            <a:pPr>
              <a:buNone/>
              <a:defRPr sz="1800" b="0">
                <a:solidFill>
                  <a:srgbClr val="B8CCC3"/>
                </a:solidFill>
                <a:latin typeface="Helvetica Neue"/>
                <a:ea typeface="Helvetica Neue"/>
                <a:cs typeface="Helvetica Neue"/>
              </a:defRPr>
            </a:pPr>
            <a:r>
              <a:rPr sz="1800" b="0">
                <a:solidFill>
                  <a:srgbClr val="B8CCC3"/>
                </a:solidFill>
                <a:latin typeface="Helvetica Neue"/>
                <a:ea typeface="Helvetica Neue"/>
                <a:cs typeface="Helvetica Neue"/>
              </a:rPr>
              <a:t>recheck each effect</a:t>
            </a:r>
          </a:p>
        </p:txBody>
      </p:sp>
      <p:sp>
        <p:nvSpPr>
          <p:cNvPr id="21" name="">
            <a:extLst xmlns:a="http://schemas.openxmlformats.org/drawingml/2006/main">
              <a:ext uri="{FF2B5EF4-FFF2-40B4-BE49-F238E27FC236}">
                <a16:creationId xmlns:a16="http://schemas.microsoft.com/office/drawing/2014/main" id="{F33E8658-6911-47F3-AB3D-5CCC0885C1B5}"/>
              </a:ext>
            </a:extLst>
          </p:cNvPr>
          <p:cNvSpPr>
            <a:spLocks xmlns:a="http://schemas.openxmlformats.org/drawingml/2006/main" noGrp="1"/>
          </p:cNvSpPr>
          <p:nvPr/>
        </p:nvSpPr>
        <p:spPr>
          <a:xfrm xmlns:a="http://schemas.openxmlformats.org/drawingml/2006/main">
            <a:off x="9305925" y="4752975"/>
            <a:ext cx="2305050" cy="857250"/>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700" b="0">
                <a:solidFill>
                  <a:srgbClr val="B8CCC3"/>
                </a:solidFill>
                <a:latin typeface="Helvetica Neue"/>
                <a:ea typeface="Helvetica Neue"/>
                <a:cs typeface="Helvetica Neue"/>
              </a:defRPr>
            </a:pPr>
            <a:r>
              <a:rPr sz="1700" b="0">
                <a:solidFill>
                  <a:srgbClr val="B8CCC3"/>
                </a:solidFill>
                <a:latin typeface="Helvetica Neue"/>
                <a:ea typeface="Helvetica Neue"/>
                <a:cs typeface="Helvetica Neue"/>
              </a:rPr>
              <a:t>Handle writes and</a:t>
            </a:r>
          </a:p>
          <a:p>
            <a:pPr>
              <a:buNone/>
              <a:defRPr sz="1700" b="0">
                <a:solidFill>
                  <a:srgbClr val="B8CCC3"/>
                </a:solidFill>
                <a:latin typeface="Helvetica Neue"/>
                <a:ea typeface="Helvetica Neue"/>
                <a:cs typeface="Helvetica Neue"/>
              </a:defRPr>
            </a:pPr>
            <a:r>
              <a:rPr sz="1700" b="0">
                <a:solidFill>
                  <a:srgbClr val="B8CCC3"/>
                </a:solidFill>
                <a:latin typeface="Helvetica Neue"/>
                <a:ea typeface="Helvetica Neue"/>
                <a:cs typeface="Helvetica Neue"/>
              </a:rPr>
              <a:t>signed requests</a:t>
            </a:r>
          </a:p>
        </p:txBody>
      </p:sp>
      <p:sp>
        <p:nvSpPr>
          <p:cNvPr id="22" name="">
            <a:extLst xmlns:a="http://schemas.openxmlformats.org/drawingml/2006/main">
              <a:ext uri="{FF2B5EF4-FFF2-40B4-BE49-F238E27FC236}">
                <a16:creationId xmlns:a16="http://schemas.microsoft.com/office/drawing/2014/main" id="{F6DDDDFF-236E-4957-9F00-68FE38001169}"/>
              </a:ext>
            </a:extLst>
          </p:cNvPr>
          <p:cNvSpPr>
            <a:spLocks xmlns:a="http://schemas.openxmlformats.org/drawingml/2006/main" noGrp="1"/>
          </p:cNvSpPr>
          <p:nvPr/>
        </p:nvSpPr>
        <p:spPr>
          <a:xfrm xmlns:a="http://schemas.openxmlformats.org/drawingml/2006/main">
            <a:off x="609600" y="5772150"/>
            <a:ext cx="10953750" cy="866775"/>
          </a:xfrm>
          <a:prstGeom xmlns:a="http://schemas.openxmlformats.org/drawingml/2006/main" prst="rect">
            <a:avLst/>
          </a:prstGeom>
          <a:noFill xmlns:a="http://schemas.openxmlformats.org/drawingml/2006/main"/>
          <a:ln xmlns:a="http://schemas.openxmlformats.org/drawingml/2006/main" w="0">
            <a:noFill/>
          </a:ln>
        </p:spPr>
        <p:txBody xmlns:a="http://schemas.openxmlformats.org/drawingml/2006/main">
          <a:bodyPr wrap="square">
            <a:noAutofit/>
          </a:bodyPr>
          <a:lstStyle/>
          <a:p>
            <a:pPr>
              <a:buNone/>
              <a:defRPr sz="1650" b="0">
                <a:solidFill>
                  <a:srgbClr val="A7E1C7"/>
                </a:solidFill>
                <a:latin typeface="Helvetica Neue"/>
                <a:ea typeface="Helvetica Neue"/>
                <a:cs typeface="Helvetica Neue"/>
              </a:defRPr>
            </a:pPr>
            <a:r>
              <a:rPr sz="1650" b="0">
                <a:solidFill>
                  <a:srgbClr val="A7E1C7"/>
                </a:solidFill>
                <a:latin typeface="Helvetica Neue"/>
                <a:ea typeface="Helvetica Neue"/>
                <a:cs typeface="Helvetica Neue"/>
              </a:rPr>
              <a:t>Only Broker stores secrets. Enforced egress blocks compiler access to protected providers.</a:t>
            </a:r>
          </a:p>
          <a:p>
            <a:pPr>
              <a:buNone/>
              <a:defRPr sz="1650" b="0">
                <a:solidFill>
                  <a:srgbClr val="A7E1C7"/>
                </a:solidFill>
                <a:latin typeface="Helvetica Neue"/>
                <a:ea typeface="Helvetica Neue"/>
                <a:cs typeface="Helvetica Neue"/>
              </a:defRPr>
            </a:pPr>
            <a:r>
              <a:rPr sz="1650" b="0">
                <a:solidFill>
                  <a:srgbClr val="A7E1C7"/>
                </a:solidFill>
                <a:latin typeface="Helvetica Neue"/>
                <a:ea typeface="Helvetica Neue"/>
                <a:cs typeface="Helvetica Neue"/>
              </a:rPr>
              <a:t>System previews cannot write. Published views sign stored results without rerunning saves.</a:t>
            </a:r>
          </a:p>
        </p:txBody>
      </p:sp>
    </p:spTree>
    <p:extLst>
      <p:ext uri="{BB962C8B-B14F-4D97-AF65-F5344CB8AC3E}">
        <p14:creationId xmlns:p14="http://schemas.microsoft.com/office/powerpoint/2010/main" val="681246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2026-10-01T00:54:40.9810000Z</dcterms:created>
  <dcterms:modified xsi:type="dcterms:W3CDTF">2026-10-01T00:54:40.9810000Z</dcterms:modified>
</coreProperties>
</file>